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suggerita: Ho preparato una breve sintesi in slide; i notebook sono pronti come backup tecnico se vuole vedere dettagli o output specifici.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grafo generato solo come output sintetico. Non serve entrare nel codice, salvo richiesta.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sottolineare che è stato risolto un problema tecnico concreto: controllare le mutazioni invece di accettare output troppo estesi.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centrale: spiegare perché D:21–50 è stato scelto, non presentarlo come conclusione biologica definitiva.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promettere che il top candidate lega meglio. Dire: candidato prioritizzato per step successivo.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chiedendo feedback sui punti decisionali, non dettagli implementativi.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ARL_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47104"/>
            <a:ext cx="11548872" cy="18288"/>
          </a:xfrm>
          <a:prstGeom prst="rect">
            <a:avLst/>
          </a:prstGeom>
          <a:solidFill>
            <a:srgbClr val="DDE7F0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PEARL prototype · EGFR 3NJP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109728"/>
            <a:ext cx="2514600" cy="2514600"/>
          </a:xfrm>
          <a:prstGeom prst="arc">
            <a:avLst/>
          </a:prstGeom>
          <a:solidFill>
            <a:srgbClr val="F6F8FB">
              <a:alpha val="0"/>
            </a:srgbClr>
          </a:solidFill>
          <a:ln w="50800">
            <a:solidFill>
              <a:srgbClr val="D6E8F5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PEARL prototype on EGFR 3NJP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94944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 pipeline tecnica: da struttura PDB a seed peptide e candidati peptidici prioritizzati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92224" y="3337560"/>
            <a:ext cx="649224" cy="0"/>
          </a:xfrm>
          <a:prstGeom prst="line">
            <a:avLst/>
          </a:prstGeom>
          <a:noFill/>
          <a:ln w="22860">
            <a:solidFill>
              <a:srgbClr val="A9BCC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93592" y="3337560"/>
            <a:ext cx="676656" cy="0"/>
          </a:xfrm>
          <a:prstGeom prst="line">
            <a:avLst/>
          </a:prstGeom>
          <a:noFill/>
          <a:ln w="22860">
            <a:solidFill>
              <a:srgbClr val="A9BCC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22392" y="3337560"/>
            <a:ext cx="676656" cy="0"/>
          </a:xfrm>
          <a:prstGeom prst="line">
            <a:avLst/>
          </a:prstGeom>
          <a:noFill/>
          <a:ln w="22860">
            <a:solidFill>
              <a:srgbClr val="A9BCC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51192" y="3337560"/>
            <a:ext cx="704088" cy="0"/>
          </a:xfrm>
          <a:prstGeom prst="line">
            <a:avLst/>
          </a:prstGeom>
          <a:noFill/>
          <a:ln w="22860">
            <a:solidFill>
              <a:srgbClr val="A9BCC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07424" y="3337560"/>
            <a:ext cx="713232" cy="0"/>
          </a:xfrm>
          <a:prstGeom prst="line">
            <a:avLst/>
          </a:prstGeom>
          <a:noFill/>
          <a:ln w="22860">
            <a:solidFill>
              <a:srgbClr val="A9BCC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" y="2834640"/>
            <a:ext cx="1078992" cy="107899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1181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1591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2834640"/>
            <a:ext cx="1078992" cy="10789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1181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58568" y="4096512"/>
            <a:ext cx="1591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2834640"/>
            <a:ext cx="1078992" cy="10789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1181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87368" y="4096512"/>
            <a:ext cx="1591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FoldX hotspots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1078992" cy="1078992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1181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16168" y="4096512"/>
            <a:ext cx="1591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peptide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2834640"/>
            <a:ext cx="1078992" cy="10789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31181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0" y="4096512"/>
            <a:ext cx="1591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variants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93808" y="2834640"/>
            <a:ext cx="1078992" cy="10789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1181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37776" y="4096512"/>
            <a:ext cx="1591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Pre-docking ranking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" y="5321808"/>
            <a:ext cx="102412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431536"/>
            <a:ext cx="99852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È ancora un prototipo tecnico: la parte biologica va consolidata con feedback esperto.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strutturale e interfaccia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8074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PDB 3NJP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93392" y="129844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38074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Chain pair B–D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712464" y="129844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138074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Cutoff contatti 4.5 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08483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B–D contacts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20848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331720" y="254203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Residui interfaccia 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0848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51960" y="2542032"/>
            <a:ext cx="1737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Residui interfaccia 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72200" y="208483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 / 88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254203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nodes / edges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39328" y="1627632"/>
            <a:ext cx="960120" cy="3584448"/>
          </a:xfrm>
          <a:prstGeom prst="roundRect">
            <a:avLst>
              <a:gd name="adj" fmla="val 17143"/>
            </a:avLst>
          </a:prstGeom>
          <a:solidFill>
            <a:srgbClr val="E5F4F2"/>
          </a:solidFill>
          <a:ln w="12700">
            <a:solidFill>
              <a:srgbClr val="C6E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88752" y="1627632"/>
            <a:ext cx="960120" cy="3584448"/>
          </a:xfrm>
          <a:prstGeom prst="roundRect">
            <a:avLst>
              <a:gd name="adj" fmla="val 17143"/>
            </a:avLst>
          </a:prstGeom>
          <a:solidFill>
            <a:srgbClr val="EFEAFA"/>
          </a:solidFill>
          <a:ln w="12700">
            <a:solidFill>
              <a:srgbClr val="D8C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1874520"/>
            <a:ext cx="2084832" cy="283464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B6C8D7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2103120"/>
            <a:ext cx="1828800" cy="23774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1DBE5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196596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13648" y="254203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13648" y="311810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13648" y="369417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13648" y="4270248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1965960"/>
            <a:ext cx="292608" cy="29260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81360" y="2542032"/>
            <a:ext cx="292608" cy="29260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3118104"/>
            <a:ext cx="292608" cy="29260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81360" y="3694176"/>
            <a:ext cx="292608" cy="29260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1360" y="4270248"/>
            <a:ext cx="292608" cy="29260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22792" y="1325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890504" y="1325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5BD0"/>
                </a:solidFill>
              </a:rPr>
              <a:t>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58784" y="5422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Interface graph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" y="48006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grafo traduce i contatti fisici B–D in una rappresentazione analizzabile.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3232" y="52852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qui si passa a hotspot energetici e finestre peptidiche contigue.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FoldX alanine scanning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18488"/>
            <a:ext cx="289864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iniziale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PositionScan generava troppe mutazioni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2011680"/>
            <a:ext cx="685800" cy="0"/>
          </a:xfrm>
          <a:prstGeom prst="line">
            <a:avLst/>
          </a:prstGeom>
          <a:noFill/>
          <a:ln w="22860">
            <a:solidFill>
              <a:srgbClr val="C8A15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1389888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BD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7176" y="1499616"/>
            <a:ext cx="3218688" cy="1014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Soluzione tecnica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BuildModel con lista controllata di mutazioni ad alanina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75320" y="2011680"/>
            <a:ext cx="667512" cy="0"/>
          </a:xfrm>
          <a:prstGeom prst="line">
            <a:avLst/>
          </a:prstGeom>
          <a:noFill/>
          <a:ln w="22860">
            <a:solidFill>
              <a:srgbClr val="C8A15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79408" y="150876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EEF8F6"/>
          </a:solidFill>
          <a:ln w="12700">
            <a:solidFill>
              <a:srgbClr val="75BD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07424" y="1618488"/>
            <a:ext cx="225856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hotspot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ΔΔG &gt; 1.5 kcal/mol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38221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Peptide-chain residues scanned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3822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83480" y="4279392"/>
            <a:ext cx="2286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Energetic hotspots identified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38221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&gt;1.5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0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kcal/mol ΔΔG cutoff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5413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Messaggio chiave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568756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La pipeline non usa una scansione indiscriminata: l’alanine scanning è controllato e riproducibile.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Seed peptide selezionato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Selected seed: D:21–50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1226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MYIEALDKYACNCVVGYIGERCQYRDLKWW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773"/>
                </a:solidFill>
              </a:rPr>
              <a:t>Copertura hotspot nella finestra contigua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3575304"/>
            <a:ext cx="8046720" cy="256032"/>
          </a:xfrm>
          <a:prstGeom prst="rect">
            <a:avLst/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3575304"/>
            <a:ext cx="6108192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8280" y="34930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11 hotspot FoldX nel seed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aa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4434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489204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positions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44348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4892040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FoldX hotspots in seed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61120" y="44348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47.59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489204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Peptide ΔΔG sum kcal/mol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81558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Scelta razionale: massimizzare la copertura degli hotspot energetici FoldX in una finestra contigua.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Generazione varianti peptidiche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4447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candidates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17520" y="14447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High-priority candidates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76672" y="14447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76672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exported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Top candidate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" y="3255264"/>
            <a:ext cx="65836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64992"/>
            <a:ext cx="63276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MYIDALEKWACNCIVGYIGERCQYRDLKWW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18120" y="324612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7848" y="3328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E24D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705088" y="324612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14816" y="3328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D27E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92056" y="324612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784" y="3328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Y29W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479024" y="324612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88752" y="3328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V34I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46177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Energetic hotspot preservation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86200" y="4617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886200" y="5074920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Energetic risk total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46177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0.9478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46520" y="5074920"/>
            <a:ext cx="2560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Pre-docking energetic score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5742432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852160"/>
            <a:ext cx="9985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 corretta: non dimostra binding migliore; è una priorità per docking/MD e validazione strutturale.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goal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Punti aperti / feedback richiesto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04672" y="14173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996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353312" y="139903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</a:rPr>
              <a:t>Il target chain pair B–D è appropriato o conviene focalizzarsi su A–B?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04672" y="213055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1284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53312" y="211226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</a:rPr>
              <a:t>Il seed D:21–50 è biologicamente sensato come peptide di partenza?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4672" y="284378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2608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53312" y="28254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</a:rPr>
              <a:t>È sufficiente questa validazione pre-docking o conviene passare a docking/MD?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4672" y="3557016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6393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53312" y="353872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</a:rPr>
              <a:t>Come interpretare correttamente i FoldX hotspots nel contesto PEARL?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4672" y="4270248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35254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53312" y="425196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</a:rPr>
              <a:t>Quale direzione privilegiare per le prossime 1–2 settimane?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4672" y="5358384"/>
            <a:ext cx="105613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5468112"/>
            <a:ext cx="103052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pronti come backup: 01 interface graph · 02b FoldX BuildModel · 03b seed window · 04b pre-docking validation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616305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Posizionamento suggerito: risultati concreti, ma richiesta esplicita di orientamento biologico e strategico.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A76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prototype on EGFR 3NJP</dc:title>
  <dc:subject>PEARL prototype on EGFR 3NJP</dc:subject>
  <dc:creator>OpenAI</dc:creator>
  <cp:lastModifiedBy>OpenAI</cp:lastModifiedBy>
  <cp:revision>1</cp:revision>
  <dcterms:created xsi:type="dcterms:W3CDTF">2026-08-01T12:21:29Z</dcterms:created>
  <dcterms:modified xsi:type="dcterms:W3CDTF">2026-08-01T12:21:29Z</dcterms:modified>
</cp:coreProperties>
</file>