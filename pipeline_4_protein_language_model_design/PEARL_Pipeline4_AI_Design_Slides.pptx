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58368"/>
            <a:ext cx="694944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Aptos"/>
              </a:rPr>
              <a:t>PEARL Pipeline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53312"/>
            <a:ext cx="1042416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0">
                <a:solidFill>
                  <a:srgbClr val="BECADA"/>
                </a:solidFill>
                <a:latin typeface="Aptos"/>
              </a:rPr>
              <a:t>ESM-2 · ProteinMPNN · Structural validation · MD · Endpoint energetics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45720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8B9BB2"/>
                </a:solidFill>
                <a:latin typeface="Aptos"/>
              </a:rPr>
              <a:t>EGFR 3NJP · interfaccia B–D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1828800" cy="658368"/>
          </a:xfrm>
          <a:prstGeom prst="roundRect">
            <a:avLst/>
          </a:prstGeom>
          <a:solidFill>
            <a:srgbClr val="2F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ESM-2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980944"/>
            <a:ext cx="320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2834640"/>
            <a:ext cx="1828800" cy="658368"/>
          </a:xfrm>
          <a:prstGeom prst="roundRect">
            <a:avLst/>
          </a:prstGeom>
          <a:solidFill>
            <a:srgbClr val="1DB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ProteinMPNN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2980944"/>
            <a:ext cx="320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0" y="2834640"/>
            <a:ext cx="1828800" cy="658368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FoldX/Rosetta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980944"/>
            <a:ext cx="320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834640"/>
            <a:ext cx="1828800" cy="658368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2980944"/>
            <a:ext cx="320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828800" cy="658368"/>
          </a:xfrm>
          <a:prstGeom prst="roundRect">
            <a:avLst/>
          </a:prstGeom>
          <a:solidFill>
            <a:srgbClr val="845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Endpoint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3657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Tre riferimenti PEARL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36592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58DCD6"/>
                </a:solidFill>
                <a:latin typeface="Aptos"/>
              </a:rPr>
              <a:t>F0010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736592"/>
            <a:ext cx="22860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IGERCQYRDLK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4736592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>naturale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75504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58DCD6"/>
                </a:solidFill>
                <a:latin typeface="Aptos"/>
              </a:rPr>
              <a:t>CF02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75504"/>
            <a:ext cx="22860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IGERSQYRELK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5175504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>dinamica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14416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58DCD6"/>
                </a:solidFill>
                <a:latin typeface="Aptos"/>
              </a:rPr>
              <a:t>CF06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14416"/>
            <a:ext cx="22860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IGERCQYRELR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614416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>strutturale / energetico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99632"/>
            <a:ext cx="105156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8B9BB2"/>
                </a:solidFill>
                <a:latin typeface="Aptos"/>
              </a:rPr>
              <a:t>Obiettivo: proporre nuovi peptidi AI e testarli con la stessa validazione multilivello usata nelle Pipeline 2–3.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Pipeline 4 completata: design AI → validazione strutturale → dinamica → energetica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45920"/>
            <a:ext cx="2103120" cy="914400"/>
          </a:xfrm>
          <a:prstGeom prst="roundRect">
            <a:avLst/>
          </a:prstGeom>
          <a:solidFill>
            <a:srgbClr val="2F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8FAFC"/>
                </a:solidFill>
                <a:latin typeface="Aptos"/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15184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BECADA"/>
                </a:solidFill>
                <a:latin typeface="Aptos"/>
              </a:rPr>
              <a:t>campioni ProteinMPNN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645920"/>
            <a:ext cx="2103120" cy="914400"/>
          </a:xfrm>
          <a:prstGeom prst="roundRect">
            <a:avLst/>
          </a:prstGeom>
          <a:solidFill>
            <a:srgbClr val="1DB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8FAFC"/>
                </a:solidFill>
                <a:latin typeface="Apto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615184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BECADA"/>
                </a:solidFill>
                <a:latin typeface="Aptos"/>
              </a:rPr>
              <a:t>sequenze uniche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1645920"/>
            <a:ext cx="2103120" cy="914400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8FAFC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615184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BECADA"/>
                </a:solidFill>
                <a:latin typeface="Aptos"/>
              </a:rPr>
              <a:t>candidati 08c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1645920"/>
            <a:ext cx="2103120" cy="914400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8FAFC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615184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BECADA"/>
                </a:solidFill>
                <a:latin typeface="Aptos"/>
              </a:rPr>
              <a:t>lead portati in 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8360" y="1645920"/>
            <a:ext cx="2103120" cy="914400"/>
          </a:xfrm>
          <a:prstGeom prst="roundRect">
            <a:avLst/>
          </a:prstGeom>
          <a:solidFill>
            <a:srgbClr val="845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8FAFC"/>
                </a:solidFill>
                <a:latin typeface="Aptos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2615184"/>
            <a:ext cx="21031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BECADA"/>
                </a:solidFill>
                <a:latin typeface="Aptos"/>
              </a:rPr>
              <a:t>snapshot endpoint / lead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46120"/>
            <a:ext cx="5394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58DCD6"/>
                </a:solidFill>
                <a:latin typeface="Aptos"/>
              </a:rPr>
              <a:t>Risultato principale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53949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NEW05: migliore evidenza statica FoldX/Rosetta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41648"/>
            <a:ext cx="53949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NEW01: migliore stabilità dinamica tra i nuovi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25696"/>
            <a:ext cx="53949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NEW05: endpoint più favorevole tra i ProteinMPNN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9744"/>
            <a:ext cx="53949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Nessun nuovo design supera CF06/F0010/CF02 nell’endpoint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8454EB"/>
                </a:solidFill>
                <a:latin typeface="Aptos"/>
              </a:rPr>
              <a:t>Messaggio metodologico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57600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I ranking dei metodi non coincidono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041648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La discordanza è informativa, non un errore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25696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La priorizzazione finale usa convergenza di evidenze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809744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Endpoint ≠ ΔG assoluta / affinità sperimentale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Mappa dei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Una catena lineare con filtri progressivamente più fisici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508760" cy="621792"/>
          </a:xfrm>
          <a:prstGeom prst="roundRect">
            <a:avLst/>
          </a:prstGeom>
          <a:solidFill>
            <a:srgbClr val="2F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08a
ESM-2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04872"/>
            <a:ext cx="15087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BECADA"/>
                </a:solidFill>
                <a:latin typeface="Aptos"/>
              </a:rPr>
              <a:t>plausibilità sequenza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847088"/>
            <a:ext cx="256032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39" y="1691640"/>
            <a:ext cx="1508760" cy="621792"/>
          </a:xfrm>
          <a:prstGeom prst="roundRect">
            <a:avLst/>
          </a:prstGeom>
          <a:solidFill>
            <a:srgbClr val="1DB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08b
ProteinMPNN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2404872"/>
            <a:ext cx="15087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BECADA"/>
                </a:solidFill>
                <a:latin typeface="Aptos"/>
              </a:rPr>
              <a:t>design strutturale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847088"/>
            <a:ext cx="256032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691640"/>
            <a:ext cx="1508760" cy="621792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08c
Integrated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404872"/>
            <a:ext cx="15087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BECADA"/>
                </a:solidFill>
                <a:latin typeface="Aptos"/>
              </a:rPr>
              <a:t>shortlist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7608" y="1847088"/>
            <a:ext cx="256032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79" y="1691640"/>
            <a:ext cx="1508760" cy="621792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08d
FoldX + Rosetta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2404872"/>
            <a:ext cx="15087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BECADA"/>
                </a:solidFill>
                <a:latin typeface="Aptos"/>
              </a:rPr>
              <a:t>top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1847088"/>
            <a:ext cx="256032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691640"/>
            <a:ext cx="1508760" cy="621792"/>
          </a:xfrm>
          <a:prstGeom prst="roundRect">
            <a:avLst/>
          </a:prstGeom>
          <a:solidFill>
            <a:srgbClr val="845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08e
MD 1 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04872"/>
            <a:ext cx="15087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BECADA"/>
                </a:solidFill>
                <a:latin typeface="Aptos"/>
              </a:rPr>
              <a:t>dinamica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1847088"/>
            <a:ext cx="256032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691640"/>
            <a:ext cx="1508760" cy="621792"/>
          </a:xfrm>
          <a:prstGeom prst="roundRect">
            <a:avLst/>
          </a:prstGeom>
          <a:solidFill>
            <a:srgbClr val="58DC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08f
Endpoint 50 snap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04120" y="2404872"/>
            <a:ext cx="1508760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BECADA"/>
                </a:solidFill>
                <a:latin typeface="Aptos"/>
              </a:rPr>
              <a:t>energia comparativa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86200"/>
            <a:ext cx="21031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Filtri progressivi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407408"/>
            <a:ext cx="1920240" cy="566928"/>
          </a:xfrm>
          <a:prstGeom prst="roundRect">
            <a:avLst/>
          </a:prstGeom>
          <a:solidFill>
            <a:srgbClr val="2F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AI prior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4517136"/>
            <a:ext cx="320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4407408"/>
            <a:ext cx="1920240" cy="566928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Struttura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4517136"/>
            <a:ext cx="320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4407408"/>
            <a:ext cx="1920240" cy="566928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Dinamica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4517136"/>
            <a:ext cx="320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8B9BB2"/>
                </a:solidFill>
                <a:latin typeface="Apto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4407408"/>
            <a:ext cx="1920240" cy="566928"/>
          </a:xfrm>
          <a:prstGeom prst="roundRect">
            <a:avLst/>
          </a:prstGeom>
          <a:solidFill>
            <a:srgbClr val="845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Energia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257800"/>
            <a:ext cx="96926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0">
                <a:solidFill>
                  <a:srgbClr val="BECADA"/>
                </a:solidFill>
                <a:latin typeface="Aptos"/>
              </a:rPr>
              <a:t>Ogni livello può confermare, ridimensionare o contraddire il precedente.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08a–08c — Dalla plausibilità alla shortlist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ESM-2 valuta la sequenza; ProteinMPNN propone design compatibili con la struttura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27632"/>
            <a:ext cx="33832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58DCD6"/>
                </a:solidFill>
                <a:latin typeface="Aptos"/>
              </a:rPr>
              <a:t>08a · riferimenti PEARL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972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CF02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057400"/>
            <a:ext cx="91440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BECADA"/>
                </a:solidFill>
                <a:latin typeface="Aptos"/>
              </a:rPr>
              <a:t>−3.120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972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CF06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514600"/>
            <a:ext cx="91440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BECADA"/>
                </a:solidFill>
                <a:latin typeface="Aptos"/>
              </a:rPr>
              <a:t>−3.232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10972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F0010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971800"/>
            <a:ext cx="91440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BECADA"/>
                </a:solidFill>
                <a:latin typeface="Aptos"/>
              </a:rPr>
              <a:t>−3.240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93008"/>
            <a:ext cx="33832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8B9BB2"/>
                </a:solidFill>
                <a:latin typeface="Aptos"/>
              </a:rPr>
              <a:t>Masked PLL medio · meno negativo = più plausibile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627632"/>
            <a:ext cx="3108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1DB8AE"/>
                </a:solidFill>
                <a:latin typeface="Aptos"/>
              </a:rPr>
              <a:t>08b · ProteinMPNN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148840"/>
            <a:ext cx="1234440" cy="749808"/>
          </a:xfrm>
          <a:prstGeom prst="roundRect">
            <a:avLst/>
          </a:prstGeom>
          <a:solidFill>
            <a:srgbClr val="1DB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F8FAFC"/>
                </a:solidFill>
                <a:latin typeface="Aptos"/>
              </a:rPr>
              <a:t>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944368"/>
            <a:ext cx="1234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BECADA"/>
                </a:solidFill>
                <a:latin typeface="Aptos"/>
              </a:rPr>
              <a:t>campioni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2148840"/>
            <a:ext cx="1234440" cy="749808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F8FAFC"/>
                </a:solidFill>
                <a:latin typeface="Aptos"/>
              </a:rPr>
              <a:t>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944368"/>
            <a:ext cx="1234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>
                <a:solidFill>
                  <a:srgbClr val="BECADA"/>
                </a:solidFill>
                <a:latin typeface="Aptos"/>
              </a:rPr>
              <a:t>unici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520440"/>
            <a:ext cx="29260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Motif ricorrente: TGPRNQYRDLX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1627632"/>
            <a:ext cx="34747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FF9F0A"/>
                </a:solidFill>
                <a:latin typeface="Aptos"/>
              </a:rPr>
              <a:t>08c · shortlist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148840"/>
            <a:ext cx="2651760" cy="749808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8FAFC"/>
                </a:solidFill>
                <a:latin typeface="Aptos"/>
              </a:rPr>
              <a:t>5 candidati nuovi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063240"/>
            <a:ext cx="3108960" cy="6858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>scelti combinando ProteinMPNN, ESM-2, frequenza e locality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17720"/>
            <a:ext cx="1828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EF5C5C"/>
                </a:solidFill>
                <a:latin typeface="Aptos"/>
              </a:rPr>
              <a:t>Limite chiave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74920"/>
            <a:ext cx="10515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Il punteggio AI è solo uno strumento di shortlisting: non misura affinità né stabilità fisica.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08d — Validazione strutturale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FoldX + Rosetta selezionano i due lead ProteinMPNN per la 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58DCD6"/>
                </a:solidFill>
                <a:latin typeface="Aptos"/>
              </a:rPr>
              <a:t>Ranking strutturale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29968"/>
            <a:ext cx="411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8B9BB2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029968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NEW05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29968"/>
            <a:ext cx="2194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>IGPRHQYRDLP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05456"/>
            <a:ext cx="411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8B9BB2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505456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NEW01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505456"/>
            <a:ext cx="2194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>TGPRNQYRDLP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80944"/>
            <a:ext cx="411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8B9BB2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980944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NEW02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980944"/>
            <a:ext cx="2194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11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8B9BB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456432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NEW04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456432"/>
            <a:ext cx="2194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31920"/>
            <a:ext cx="411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8B9BB2"/>
                </a:solidFill>
                <a:latin typeface="Apto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3931920"/>
            <a:ext cx="914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NEW03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3931920"/>
            <a:ext cx="21945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BECADA"/>
                </a:solidFill>
                <a:latin typeface="Apto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1600200"/>
            <a:ext cx="2743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FF9F0A"/>
                </a:solidFill>
                <a:latin typeface="Aptos"/>
              </a:rPr>
              <a:t>Confronto top-2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2084831"/>
            <a:ext cx="2743200" cy="1051560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NEW05
FoldX ≈ −13.75 kcal/mol
Rosetta I_sc ≈ −56.12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2084831"/>
            <a:ext cx="2743200" cy="1051560"/>
          </a:xfrm>
          <a:prstGeom prst="roundRect">
            <a:avLst/>
          </a:prstGeom>
          <a:solidFill>
            <a:srgbClr val="1DB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NEW01
FoldX ≈ −11.74 kcal/mol
Rosetta I_sc ≈ −54.17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310128"/>
            <a:ext cx="58521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8B9BB2"/>
                </a:solidFill>
                <a:latin typeface="Aptos"/>
              </a:rPr>
              <a:t>Più negativo = più favorevole nei rispettivi protocolli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977639"/>
            <a:ext cx="12801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Risultato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434840"/>
            <a:ext cx="5852160" cy="7772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BECADA"/>
                </a:solidFill>
                <a:latin typeface="Aptos"/>
              </a:rPr>
              <a:t>NEW05 è il lead ProteinMPNN più forte nella validazione statica e viene portato in 08e insieme a NEW01.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08e — MD esplicita da 1 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I due nuovi lead vengono confrontati con F0010 / CF02 / CF06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27632"/>
            <a:ext cx="2743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58DCD6"/>
                </a:solidFill>
                <a:latin typeface="Aptos"/>
              </a:rPr>
              <a:t>Candidato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2"/>
            <a:ext cx="10972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58DCD6"/>
                </a:solidFill>
                <a:latin typeface="Aptos"/>
              </a:rPr>
              <a:t>RMSD 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627632"/>
            <a:ext cx="10972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58DCD6"/>
                </a:solidFill>
                <a:latin typeface="Aptos"/>
              </a:rPr>
              <a:t>RMSF 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27632"/>
            <a:ext cx="21488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58DCD6"/>
                </a:solidFill>
                <a:latin typeface="Aptos"/>
              </a:rPr>
              <a:t>Contatti ≥50%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20116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58DCD6"/>
                </a:solidFill>
                <a:latin typeface="Aptos"/>
              </a:rPr>
              <a:t>Persistenza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011679"/>
            <a:ext cx="10149840" cy="420624"/>
          </a:xfrm>
          <a:prstGeom prst="rect">
            <a:avLst/>
          </a:prstGeom>
          <a:solidFill>
            <a:srgbClr val="121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84831"/>
            <a:ext cx="2743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CF02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84831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0.901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084831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0.737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084831"/>
            <a:ext cx="21488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084831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0.603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96896"/>
            <a:ext cx="2743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NEW01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596896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1.268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596896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0.920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596896"/>
            <a:ext cx="21488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596896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Aptos"/>
              </a:rPr>
              <a:t>0.599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35808"/>
            <a:ext cx="10149840" cy="420624"/>
          </a:xfrm>
          <a:prstGeom prst="rect">
            <a:avLst/>
          </a:prstGeom>
          <a:solidFill>
            <a:srgbClr val="121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08960"/>
            <a:ext cx="2743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CF06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08960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1.293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108960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0.904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108960"/>
            <a:ext cx="21488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10896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0.529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621024"/>
            <a:ext cx="2743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NEW05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621024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1.417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621024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0.831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621024"/>
            <a:ext cx="21488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621024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0.535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059935"/>
            <a:ext cx="10149840" cy="420624"/>
          </a:xfrm>
          <a:prstGeom prst="rect">
            <a:avLst/>
          </a:prstGeom>
          <a:solidFill>
            <a:srgbClr val="121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7"/>
            <a:ext cx="2743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F0010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4133087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1.966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133087"/>
            <a:ext cx="10972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1.164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133087"/>
            <a:ext cx="21488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133087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0">
                <a:solidFill>
                  <a:srgbClr val="F8FAFC"/>
                </a:solidFill>
                <a:latin typeface="Aptos"/>
              </a:rPr>
              <a:t>0.541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92040"/>
            <a:ext cx="31089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FF9F0A"/>
                </a:solidFill>
                <a:latin typeface="Aptos"/>
              </a:rPr>
              <a:t>Lettura tra i nuovi lead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21808"/>
            <a:ext cx="102412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Aptos"/>
              </a:rPr>
              <a:t>NEW01 è più competitivo dinamicamente di NEW05, nonostante il ranking statico opposto.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989320"/>
            <a:ext cx="102412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8B9BB2"/>
                </a:solidFill>
                <a:latin typeface="Aptos"/>
              </a:rPr>
              <a:t>MD descrittiva: stabilità e contatti, non affinità sperimentale.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08f — Endpoint energetic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50 snapshot per nuovo candidato · single-trajectory MM/GBSA-like proxy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691640"/>
            <a:ext cx="15087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1. CF06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691640"/>
            <a:ext cx="14173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200" b="0">
                <a:solidFill>
                  <a:srgbClr val="BECADA"/>
                </a:solidFill>
                <a:latin typeface="Aptos"/>
              </a:rPr>
              <a:t>-65.66 ± 6.80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709928"/>
            <a:ext cx="4458065" cy="274320"/>
          </a:xfrm>
          <a:prstGeom prst="roundRect">
            <a:avLst/>
          </a:prstGeom>
          <a:solidFill>
            <a:srgbClr val="2F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41448"/>
            <a:ext cx="15087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2. F0010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441448"/>
            <a:ext cx="14173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200" b="0">
                <a:solidFill>
                  <a:srgbClr val="BECADA"/>
                </a:solidFill>
                <a:latin typeface="Aptos"/>
              </a:rPr>
              <a:t>-59.46 ± 5.96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459736"/>
            <a:ext cx="3380902" cy="274320"/>
          </a:xfrm>
          <a:prstGeom prst="roundRect">
            <a:avLst/>
          </a:prstGeom>
          <a:solidFill>
            <a:srgbClr val="1DB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191256"/>
            <a:ext cx="15087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3. CF02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91256"/>
            <a:ext cx="14173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200" b="0">
                <a:solidFill>
                  <a:srgbClr val="BECADA"/>
                </a:solidFill>
                <a:latin typeface="Aptos"/>
              </a:rPr>
              <a:t>-56.62 ± 4.63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209544"/>
            <a:ext cx="2887492" cy="274320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941064"/>
            <a:ext cx="15087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4. NEW05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941064"/>
            <a:ext cx="14173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200" b="0">
                <a:solidFill>
                  <a:srgbClr val="BECADA"/>
                </a:solidFill>
                <a:latin typeface="Aptos"/>
              </a:rPr>
              <a:t>-53.67 ± 6.43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959352"/>
            <a:ext cx="2374971" cy="274320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690872"/>
            <a:ext cx="15087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5. NEW01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690872"/>
            <a:ext cx="14173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200" b="0">
                <a:solidFill>
                  <a:srgbClr val="BECADA"/>
                </a:solidFill>
                <a:latin typeface="Aptos"/>
              </a:rPr>
              <a:t>-46.41 ± 4.66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709159"/>
            <a:ext cx="1113647" cy="274320"/>
          </a:xfrm>
          <a:prstGeom prst="roundRect">
            <a:avLst/>
          </a:prstGeom>
          <a:solidFill>
            <a:srgbClr val="845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5532120"/>
            <a:ext cx="4023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8B9BB2"/>
                </a:solidFill>
                <a:latin typeface="Aptos"/>
              </a:rPr>
              <a:t>più negativo = più favorevole nel protocollo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828800"/>
            <a:ext cx="32004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58DCD6"/>
                </a:solidFill>
                <a:latin typeface="Aptos"/>
              </a:rPr>
              <a:t>Risultato chiave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148840"/>
            <a:ext cx="3749039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58DCD6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560320"/>
            <a:ext cx="3749039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NEW05 è il miglior endpoint tra i nuovi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944368"/>
            <a:ext cx="3749039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NEW01 resta meno favorevole energeticamente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328416"/>
            <a:ext cx="3749039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Entrambi rimangono sotto CF06/F0010/CF02 nell’endpoint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54880"/>
            <a:ext cx="34747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EF5C5C"/>
                </a:solidFill>
                <a:latin typeface="Aptos"/>
              </a:rPr>
              <a:t>Endpoint ≠ ΔGbind assoluta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Il ranking cambia con il metodo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Statico, dinamico ed energetico rispondono a domande diverse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31089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>
                <a:solidFill>
                  <a:srgbClr val="18BE84"/>
                </a:solidFill>
                <a:latin typeface="Aptos"/>
              </a:rPr>
              <a:t>08d · FoldX/Rosetta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2331720"/>
            <a:ext cx="2286000" cy="621792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8FAFC"/>
                </a:solidFill>
                <a:latin typeface="Aptos"/>
              </a:rPr>
              <a:t>1. NEW05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246120"/>
            <a:ext cx="2286000" cy="621792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8FAFC"/>
                </a:solidFill>
                <a:latin typeface="Aptos"/>
              </a:rPr>
              <a:t>2. NEW01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1737360"/>
            <a:ext cx="31089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>
                <a:solidFill>
                  <a:srgbClr val="FF9F0A"/>
                </a:solidFill>
                <a:latin typeface="Aptos"/>
              </a:rPr>
              <a:t>08e · MD 1 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2331720"/>
            <a:ext cx="2286000" cy="621792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8FAFC"/>
                </a:solidFill>
                <a:latin typeface="Aptos"/>
              </a:rPr>
              <a:t>1. NEW01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59" y="3246120"/>
            <a:ext cx="2286000" cy="621792"/>
          </a:xfrm>
          <a:prstGeom prst="roundRect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8FAFC"/>
                </a:solidFill>
                <a:latin typeface="Aptos"/>
              </a:rPr>
              <a:t>2. NEW05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1737360"/>
            <a:ext cx="31089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>
                <a:solidFill>
                  <a:srgbClr val="8454EB"/>
                </a:solidFill>
                <a:latin typeface="Aptos"/>
              </a:rPr>
              <a:t>08f · Endpoint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799" y="2331720"/>
            <a:ext cx="2286000" cy="621792"/>
          </a:xfrm>
          <a:prstGeom prst="roundRect">
            <a:avLst/>
          </a:prstGeom>
          <a:solidFill>
            <a:srgbClr val="845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8FAFC"/>
                </a:solidFill>
                <a:latin typeface="Aptos"/>
              </a:rPr>
              <a:t>1. NEW05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799" y="3246120"/>
            <a:ext cx="2286000" cy="621792"/>
          </a:xfrm>
          <a:prstGeom prst="roundRect">
            <a:avLst/>
          </a:prstGeom>
          <a:solidFill>
            <a:srgbClr val="845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8FAFC"/>
                </a:solidFill>
                <a:latin typeface="Aptos"/>
              </a:rPr>
              <a:t>2. NEW01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17720"/>
            <a:ext cx="29260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58DCD6"/>
                </a:solidFill>
                <a:latin typeface="Aptos"/>
              </a:rPr>
              <a:t>Interpretazione integrata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10652760" cy="7132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Aptos"/>
              </a:rPr>
              <a:t>NEW05 ha la convergenza più forte tra i nuovi design: migliore statico + migliore endpoint. NEW01 resta il lead dinamico complementare.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25312"/>
            <a:ext cx="106527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0">
                <a:solidFill>
                  <a:srgbClr val="8B9BB2"/>
                </a:solidFill>
                <a:latin typeface="Aptos"/>
              </a:rPr>
              <a:t>Non costruiamo un unico score artificiale: conserviamo il significato fisico distinto di ogni metrica.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Riferimenti Pipeline 3 e razionale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Il terzo incontro rafforza il principio: uno score non definisce da solo il “miglior peptide”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1417320" cy="566928"/>
          </a:xfrm>
          <a:prstGeom prst="roundRect">
            <a:avLst/>
          </a:prstGeom>
          <a:solidFill>
            <a:srgbClr val="1DB8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F0010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764792"/>
            <a:ext cx="46634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riferimento naturale / miniaturizzato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1417320" cy="566928"/>
          </a:xfrm>
          <a:prstGeom prst="roundRect">
            <a:avLst/>
          </a:prstGeom>
          <a:solidFill>
            <a:srgbClr val="18BE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CF02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587752"/>
            <a:ext cx="46634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riferimento dinamico · miglior MD 1 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337560"/>
            <a:ext cx="1417320" cy="566928"/>
          </a:xfrm>
          <a:prstGeom prst="roundRect">
            <a:avLst/>
          </a:prstGeom>
          <a:solidFill>
            <a:srgbClr val="2F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Aptos"/>
              </a:rPr>
              <a:t>CF06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3410712"/>
            <a:ext cx="46634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riferimento strutturale / energetico · Rosetta + endpoint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90288"/>
            <a:ext cx="21031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FF9F0A"/>
                </a:solidFill>
                <a:latin typeface="Aptos"/>
              </a:rPr>
              <a:t>Lezione CF05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47488"/>
            <a:ext cx="6766560" cy="6400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Pair score → CF05, ma production 1 ns e endpoint non lo confermano come candidato fisicamente più forte.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37360"/>
            <a:ext cx="33832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8454EB"/>
                </a:solidFill>
                <a:latin typeface="Aptos"/>
              </a:rPr>
              <a:t>Conseguenza per Pipeline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103120"/>
            <a:ext cx="34747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8454EB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514600"/>
            <a:ext cx="347472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AI = generazione / prior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898648"/>
            <a:ext cx="347472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FoldX/Rosetta = filtro strutturale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282696"/>
            <a:ext cx="347472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MD = validazione dinamica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666744"/>
            <a:ext cx="347472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Endpoint = evidenza energetica comparativa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050791"/>
            <a:ext cx="347472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Nessun livello è sufficiente da solo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Interpretazione e limiti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Cosa possiamo dire — e cosa non ancora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257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18BE84"/>
                </a:solidFill>
                <a:latin typeface="Aptos"/>
              </a:rPr>
              <a:t>Possiamo dire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25780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ProteinMPNN produce nuovi lead strutturalmente plausibili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41448"/>
            <a:ext cx="525780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NEW05 ha il supporto cross-method più forte tra i nuovi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25496"/>
            <a:ext cx="525780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NEW01 è il miglior nuovo lead per dinamica 1 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9544"/>
            <a:ext cx="525780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I riferimenti Pipeline 3 restano superiori nell’endpoint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93591"/>
            <a:ext cx="525780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La pipeline rileva correttamente discordanza tra metodi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51663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EF5C5C"/>
                </a:solidFill>
                <a:latin typeface="Aptos"/>
              </a:rPr>
              <a:t>Non possiamo dire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057400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Non è validazione sperimentale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441448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1 ns non dimostra convergenza 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25496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Endpoint non è ΔGbind rigorosa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09544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No Kd / Ki / IC50 quantitativi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593591"/>
            <a:ext cx="516636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• Assenza di repliche indipendenti e di calibrazione sperimentale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828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58DCD6"/>
                </a:solidFill>
                <a:latin typeface="Aptos"/>
              </a:rPr>
              <a:t>Uso corretto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77840"/>
            <a:ext cx="1024128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Prioritizzare i candidati e decidere dove investire calcolo o validazione sperimentale più costosi.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8136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8FAFC"/>
                </a:solidFill>
                <a:latin typeface="Aptos"/>
              </a:rPr>
              <a:t>Stato finale della Pipeline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BECADA"/>
                </a:solidFill>
                <a:latin typeface="Aptos"/>
              </a:rPr>
              <a:t>Completata come ramo AI-guided con validazione strutturale, dinamica ed energetica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32520" y="182880"/>
            <a:ext cx="27432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B9BB2"/>
                </a:solidFill>
                <a:latin typeface="Aptos"/>
              </a:rPr>
              <a:t>Pipeline 4 · PEARL / EGFR 3NJP · slide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365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2F69E1"/>
                </a:solidFill>
                <a:latin typeface="Apto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08760"/>
            <a:ext cx="4937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ESM-2 sequence plausibility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75688"/>
            <a:ext cx="365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1DB8AE"/>
                </a:solidFill>
                <a:latin typeface="Aptos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75688"/>
            <a:ext cx="4937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ProteinMPNN constrained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42615"/>
            <a:ext cx="365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18BE84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642615"/>
            <a:ext cx="4937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Shortlist integrata di 5 candidati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9544"/>
            <a:ext cx="365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FF9F0A"/>
                </a:solidFill>
                <a:latin typeface="Apto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09544"/>
            <a:ext cx="4937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FoldX + Rosetta su tutti i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76472"/>
            <a:ext cx="365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8454EB"/>
                </a:solidFill>
                <a:latin typeface="Apto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76472"/>
            <a:ext cx="4937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MD 1 ns su NEW05 / NEW01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1">
                <a:solidFill>
                  <a:srgbClr val="58DCD6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343400"/>
            <a:ext cx="493776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Aptos"/>
              </a:rPr>
              <a:t>Endpoint production 50 snapshot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08760"/>
            <a:ext cx="3840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58DCD6"/>
                </a:solidFill>
                <a:latin typeface="Aptos"/>
              </a:rPr>
              <a:t>Conclusione finale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57400"/>
            <a:ext cx="475488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NEW05 = lead ProteinMPNN con la maggiore convergenza cross-method.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788920"/>
            <a:ext cx="475488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0">
                <a:solidFill>
                  <a:srgbClr val="BECADA"/>
                </a:solidFill>
                <a:latin typeface="Aptos"/>
              </a:rPr>
              <a:t>NEW01 = lead dinamico complementare.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474720"/>
            <a:ext cx="475488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FF9F0A"/>
                </a:solidFill>
                <a:latin typeface="Aptos"/>
              </a:rPr>
              <a:t>Nessun nuovo design supera i riferimenti Pipeline 3 nell’endpoint.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572000"/>
            <a:ext cx="1828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8454EB"/>
                </a:solidFill>
                <a:latin typeface="Aptos"/>
              </a:rPr>
              <a:t>Next 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983480"/>
            <a:ext cx="475488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ptos"/>
              </a:rPr>
              <a:t>Sintesi integrata Pipeline 4 / relazione finale; eventuale free-energy più rigorosa o validazione sperimentale solo come step successivo.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