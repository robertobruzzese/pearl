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aabdc7ede47f9" /><Relationship Type="http://schemas.openxmlformats.org/officeDocument/2006/relationships/extended-properties" Target="/docProps/app.xml" Id="Rf84887b577904acf" /><Relationship Type="http://schemas.openxmlformats.org/officeDocument/2006/relationships/officeDocument" Target="/ppt/presentation.xml" Id="R7510aac6598d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c57e29fcc24656"/>
  </p:sldMasterIdLst>
  <p:notesMasterIdLst>
    <p:notesMasterId xmlns:r="http://schemas.openxmlformats.org/officeDocument/2006/relationships" r:id="R8a6a97c8252e42cf"/>
  </p:notesMasterIdLst>
  <p:sldIdLst>
    <p:sldId xmlns:r="http://schemas.openxmlformats.org/officeDocument/2006/relationships" id="256" r:id="Rf8b4bda394594511"/>
    <p:sldId xmlns:r="http://schemas.openxmlformats.org/officeDocument/2006/relationships" id="257" r:id="R1dbc7c473bbb4e44"/>
    <p:sldId xmlns:r="http://schemas.openxmlformats.org/officeDocument/2006/relationships" id="258" r:id="R015d7ea72fce4075"/>
    <p:sldId xmlns:r="http://schemas.openxmlformats.org/officeDocument/2006/relationships" id="259" r:id="R9caeb306cf934426"/>
    <p:sldId xmlns:r="http://schemas.openxmlformats.org/officeDocument/2006/relationships" id="260" r:id="Rdc424eba620c41b6"/>
    <p:sldId xmlns:r="http://schemas.openxmlformats.org/officeDocument/2006/relationships" id="261" r:id="Rf8300588f2b64af6"/>
    <p:sldId xmlns:r="http://schemas.openxmlformats.org/officeDocument/2006/relationships" id="262" r:id="R462e56eb4a2a4e9f"/>
    <p:sldId xmlns:r="http://schemas.openxmlformats.org/officeDocument/2006/relationships" id="263" r:id="Ra94a706ce19f4319"/>
    <p:sldId xmlns:r="http://schemas.openxmlformats.org/officeDocument/2006/relationships" id="264" r:id="R3622abeabfc942e7"/>
    <p:sldId xmlns:r="http://schemas.openxmlformats.org/officeDocument/2006/relationships" id="265" r:id="R55f4555e2f574eca"/>
    <p:sldId xmlns:r="http://schemas.openxmlformats.org/officeDocument/2006/relationships" id="266" r:id="R2a7dd5e16e4f4120"/>
    <p:sldId xmlns:r="http://schemas.openxmlformats.org/officeDocument/2006/relationships" id="267" r:id="Raade11b86e234c87"/>
    <p:sldId xmlns:r="http://schemas.openxmlformats.org/officeDocument/2006/relationships" id="268" r:id="Rb61d6178875b4397"/>
    <p:sldId xmlns:r="http://schemas.openxmlformats.org/officeDocument/2006/relationships" id="269" r:id="R29d723b028244de1"/>
    <p:sldId xmlns:r="http://schemas.openxmlformats.org/officeDocument/2006/relationships" id="270" r:id="Rbf7da9228f894a6e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e266fe80d3479c" /><Relationship Type="http://schemas.openxmlformats.org/officeDocument/2006/relationships/slideMaster" Target="/ppt/slideMasters/slideMaster1.xml" Id="R82c57e29fcc24656" /><Relationship Type="http://schemas.openxmlformats.org/officeDocument/2006/relationships/notesMaster" Target="/ppt/notesMasters/notesMaster1.xml" Id="R8a6a97c8252e42cf" /><Relationship Type="http://schemas.openxmlformats.org/officeDocument/2006/relationships/presProps" Target="/ppt/presProps.xml" Id="R9d3b7596388d4b5b" /><Relationship Type="http://schemas.openxmlformats.org/officeDocument/2006/relationships/viewProps" Target="/ppt/viewProps.xml" Id="R0a20a771a325436e" /><Relationship Type="http://schemas.openxmlformats.org/officeDocument/2006/relationships/tableStyles" Target="/ppt/tableStyles.xml" Id="Rd01496cf40c44f8a" /><Relationship Type="http://schemas.openxmlformats.org/officeDocument/2006/relationships/slide" Target="/ppt/slides/slide1.xml" Id="Rf8b4bda394594511" /><Relationship Type="http://schemas.openxmlformats.org/officeDocument/2006/relationships/slide" Target="/ppt/slides/slide2.xml" Id="R1dbc7c473bbb4e44" /><Relationship Type="http://schemas.openxmlformats.org/officeDocument/2006/relationships/slide" Target="/ppt/slides/slide3.xml" Id="R015d7ea72fce4075" /><Relationship Type="http://schemas.openxmlformats.org/officeDocument/2006/relationships/slide" Target="/ppt/slides/slide4.xml" Id="R9caeb306cf934426" /><Relationship Type="http://schemas.openxmlformats.org/officeDocument/2006/relationships/slide" Target="/ppt/slides/slide5.xml" Id="Rdc424eba620c41b6" /><Relationship Type="http://schemas.openxmlformats.org/officeDocument/2006/relationships/slide" Target="/ppt/slides/slide6.xml" Id="Rf8300588f2b64af6" /><Relationship Type="http://schemas.openxmlformats.org/officeDocument/2006/relationships/slide" Target="/ppt/slides/slide7.xml" Id="R462e56eb4a2a4e9f" /><Relationship Type="http://schemas.openxmlformats.org/officeDocument/2006/relationships/slide" Target="/ppt/slides/slide8.xml" Id="Ra94a706ce19f4319" /><Relationship Type="http://schemas.openxmlformats.org/officeDocument/2006/relationships/slide" Target="/ppt/slides/slide9.xml" Id="R3622abeabfc942e7" /><Relationship Type="http://schemas.openxmlformats.org/officeDocument/2006/relationships/slide" Target="/ppt/slides/slide10.xml" Id="R55f4555e2f574eca" /><Relationship Type="http://schemas.openxmlformats.org/officeDocument/2006/relationships/slide" Target="/ppt/slides/slide11.xml" Id="R2a7dd5e16e4f4120" /><Relationship Type="http://schemas.openxmlformats.org/officeDocument/2006/relationships/slide" Target="/ppt/slides/slide12.xml" Id="Raade11b86e234c87" /><Relationship Type="http://schemas.openxmlformats.org/officeDocument/2006/relationships/slide" Target="/ppt/slides/slide13.xml" Id="Rb61d6178875b4397" /><Relationship Type="http://schemas.openxmlformats.org/officeDocument/2006/relationships/slide" Target="/ppt/slides/slide14.xml" Id="R29d723b028244de1" /><Relationship Type="http://schemas.openxmlformats.org/officeDocument/2006/relationships/slide" Target="/ppt/slides/slide15.xml" Id="Rbf7da9228f89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aec0a28229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0180dc8f041fa" /><Relationship Type="http://schemas.openxmlformats.org/officeDocument/2006/relationships/notesMaster" Target="/ppt/notesMasters/notesMaster1.xml" Id="R3dd85fe79f0a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45cd7b96fb4159" /><Relationship Type="http://schemas.openxmlformats.org/officeDocument/2006/relationships/notesMaster" Target="/ppt/notesMasters/notesMaster1.xml" Id="R7aebf342d4ba45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e8296699cb446f" /><Relationship Type="http://schemas.openxmlformats.org/officeDocument/2006/relationships/notesMaster" Target="/ppt/notesMasters/notesMaster1.xml" Id="R586d7862a74b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bc7f298cb48db" /><Relationship Type="http://schemas.openxmlformats.org/officeDocument/2006/relationships/notesMaster" Target="/ppt/notesMasters/notesMaster1.xml" Id="R6a6bb2fda4f4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913e3fc732459c" /><Relationship Type="http://schemas.openxmlformats.org/officeDocument/2006/relationships/notesMaster" Target="/ppt/notesMasters/notesMaster1.xml" Id="R06d5860e2cc143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2b235c48e14da3" /><Relationship Type="http://schemas.openxmlformats.org/officeDocument/2006/relationships/notesMaster" Target="/ppt/notesMasters/notesMaster1.xml" Id="Rd525b2fa015d48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9772e0f2ae4288" /><Relationship Type="http://schemas.openxmlformats.org/officeDocument/2006/relationships/notesMaster" Target="/ppt/notesMasters/notesMaster1.xml" Id="R5e71ed9633f2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df48af8c974845" /><Relationship Type="http://schemas.openxmlformats.org/officeDocument/2006/relationships/notesMaster" Target="/ppt/notesMasters/notesMaster1.xml" Id="R72f3c59d25dc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edc09e1aea4af4" /><Relationship Type="http://schemas.openxmlformats.org/officeDocument/2006/relationships/notesMaster" Target="/ppt/notesMasters/notesMaster1.xml" Id="Rfc7a450d3f7441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81e6207af24af5" /><Relationship Type="http://schemas.openxmlformats.org/officeDocument/2006/relationships/notesMaster" Target="/ppt/notesMasters/notesMaster1.xml" Id="R1d4b62484acf4c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06e7f566cd40a4" /><Relationship Type="http://schemas.openxmlformats.org/officeDocument/2006/relationships/notesMaster" Target="/ppt/notesMasters/notesMaster1.xml" Id="Rdf64b0da70c246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9a3be75ddd451b" /><Relationship Type="http://schemas.openxmlformats.org/officeDocument/2006/relationships/notesMaster" Target="/ppt/notesMasters/notesMaster1.xml" Id="Ra9b0d2c977a448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bc27b5d8d44e57" /><Relationship Type="http://schemas.openxmlformats.org/officeDocument/2006/relationships/notesMaster" Target="/ppt/notesMasters/notesMaster1.xml" Id="R17dc714e9a994a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68df7f43a04f25" /><Relationship Type="http://schemas.openxmlformats.org/officeDocument/2006/relationships/notesMaster" Target="/ppt/notesMasters/notesMaster1.xml" Id="Rf53d7f46f1434f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ee1c7d678449d5" /><Relationship Type="http://schemas.openxmlformats.org/officeDocument/2006/relationships/notesMaster" Target="/ppt/notesMasters/notesMaster1.xml" Id="R292d6d0ab5ec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668c1b7bd4f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8d27039a649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22b6f9a0342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9282474cd4b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264f66f8543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e15ee37bf4f9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98abf873c4c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8c48b7f3348c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a2e1b2dcf47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f9e156cd45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990bda0ae491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5FF13-84E3-4592-9930-875CA25C9A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800199-3693-4894-9268-66994671E6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06B3EDF-DD4C-4B14-90DA-8E218173A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5506B2-3366-44C9-9D90-D98158EA33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0EFC8D-3E4A-44C0-B411-E8D114FB63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E93926-55CF-403F-B0EA-2BA6054F8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6C342B-7175-4EAB-B493-44DBB81E88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1B7B16-F9E9-4E30-944D-D9FF4F5BC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212C0E-774A-443D-90BA-BCA520D6A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CF8BAB-4373-4C6B-B9B6-699410D16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33DD5D-68AB-4E5D-A86C-77B0D27CC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6EC9D1-1F9B-4033-8E23-74B09CDAC3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3723B3-3F55-4B1B-BDC5-2C11395DB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9B4E31-B22E-4EC7-BA4C-05C89390EE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FC98B8-F412-4E5B-A036-1D1F69F534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5AB930-F11A-43A6-B361-DF039959F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349BE8-FEB6-49A4-BA45-ADBF56FD9E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C246DC4-4C63-492C-A99A-E3A817DABBB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DA41B41-08E1-418F-9881-11B74947F9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A34479-C300-4D3B-B505-E03D1A14F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2C1070-2663-454D-A31A-93310CAD72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0141CB-0BF3-4A39-98C2-34D86A16E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256EC5-31A7-4AF5-8A76-5A63D9E1B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F62842-42AA-41B0-ADBF-A375BD1C6D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12F3EE6-0A23-4170-9F85-3CD36F3605F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087B1D7-78D8-4EB5-B04B-58BC1F4EE4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CA0CB7A-CBC3-4FA3-9723-CE4DD9D3C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643C528-608D-41DE-8054-2AE8ED2DFB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60E6202-4CBE-4C95-A3A3-4FC55FB4A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CD5591-968E-4FF1-B57F-93DD66527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E278975-87A3-406A-8674-390EB5188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77DC6C9-620B-42BB-A16D-80F023721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922B70B-50FA-4E2C-9C13-33E7EBF01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3E9BD74-18E1-40B6-8DF6-9468BF3D00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27862B3-100A-48A3-82FC-0C96D58F9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B5C0CA0-F3E0-41B6-8154-91AB294468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110F1A-49B3-4E10-8B95-3219EB258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866CA8-FFD1-4CB8-B05B-2C9AB1B42A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AB7CB38-ACA7-4CD6-9232-B1C3FE26A1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E86AC4-CB02-48CF-90D6-8F78488C7B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B31F6B-A2F7-4FF2-9AB6-E677920A26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179BED-431E-4073-A726-8AA8BEF46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C20668-D7A5-4D92-848F-99C6FBC27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0D6A32A-47F4-4ECD-9C60-A91D1A08B22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96D02BB-610B-4C33-845F-48F4573E25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D4F334F-16E3-4FFE-83F9-F0ECBB5DFF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F0D74B-64C0-4C61-9C26-1554BDD61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F1423B-A59E-4FD9-8363-FB924B89E1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118813-2EDF-4AF4-869F-E4DD8CD8C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D5B352-0980-481C-9932-609BDEFE1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C46692-02B8-4CD3-BE48-8C6ABF1114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A9F995-9D73-43FC-80CC-C5783F32A6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AFF452-5BAF-4508-AFA1-150D0F5D57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8B8281D-5928-438E-8596-8F51A295C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014C42-E5D3-48EC-8002-BCB0B828A9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8E50E2-CEF0-4947-9C12-1DF175480C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6AAFB2-2A8E-4A20-828D-4811256BF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B780BA-B57C-4E08-BD00-0BBBAE76C2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fd6b84f9684ddf" /><Relationship Type="http://schemas.openxmlformats.org/officeDocument/2006/relationships/slideLayout" Target="/ppt/slideLayouts/slideLayout1.xml" Id="R24ec33df882e41b8" /><Relationship Type="http://schemas.openxmlformats.org/officeDocument/2006/relationships/slideLayout" Target="/ppt/slideLayouts/slideLayout2.xml" Id="Rac905f4b5d5f4336" /><Relationship Type="http://schemas.openxmlformats.org/officeDocument/2006/relationships/slideLayout" Target="/ppt/slideLayouts/slideLayout3.xml" Id="Rb9239aac2a804af7" /><Relationship Type="http://schemas.openxmlformats.org/officeDocument/2006/relationships/slideLayout" Target="/ppt/slideLayouts/slideLayout4.xml" Id="Rbc8b1bfabcd248af" /><Relationship Type="http://schemas.openxmlformats.org/officeDocument/2006/relationships/slideLayout" Target="/ppt/slideLayouts/slideLayout5.xml" Id="R7f7039355ec84653" /><Relationship Type="http://schemas.openxmlformats.org/officeDocument/2006/relationships/slideLayout" Target="/ppt/slideLayouts/slideLayout6.xml" Id="R822169757782426a" /><Relationship Type="http://schemas.openxmlformats.org/officeDocument/2006/relationships/slideLayout" Target="/ppt/slideLayouts/slideLayout7.xml" Id="R775222ad72714b50" /><Relationship Type="http://schemas.openxmlformats.org/officeDocument/2006/relationships/slideLayout" Target="/ppt/slideLayouts/slideLayout8.xml" Id="Rb2f18164dde845ae" /><Relationship Type="http://schemas.openxmlformats.org/officeDocument/2006/relationships/slideLayout" Target="/ppt/slideLayouts/slideLayout9.xml" Id="R1bc7ef2f4d6a4d8b" /><Relationship Type="http://schemas.openxmlformats.org/officeDocument/2006/relationships/slideLayout" Target="/ppt/slideLayouts/slideLayout10.xml" Id="Ra521b8767c164323" /><Relationship Type="http://schemas.openxmlformats.org/officeDocument/2006/relationships/slideLayout" Target="/ppt/slideLayouts/slideLayout11.xml" Id="Rc69f0212bbd043c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420690B-A9FB-4905-9340-ECC0F852F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C0692E-1167-44FF-A923-FA9298D8C9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37B4BA-A2AA-4CE4-9ABB-5E134B3154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AD32C1-AB11-41D7-B47F-6A1244A1314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443F1F-7AFB-49C6-9AF3-A181199E68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c33df882e41b8"/>
    <p:sldLayoutId xmlns:r="http://schemas.openxmlformats.org/officeDocument/2006/relationships" id="2147483650" r:id="Rac905f4b5d5f4336"/>
    <p:sldLayoutId xmlns:r="http://schemas.openxmlformats.org/officeDocument/2006/relationships" id="2147483651" r:id="Rb9239aac2a804af7"/>
    <p:sldLayoutId xmlns:r="http://schemas.openxmlformats.org/officeDocument/2006/relationships" id="2147483652" r:id="Rbc8b1bfabcd248af"/>
    <p:sldLayoutId xmlns:r="http://schemas.openxmlformats.org/officeDocument/2006/relationships" id="2147483653" r:id="R7f7039355ec84653"/>
    <p:sldLayoutId xmlns:r="http://schemas.openxmlformats.org/officeDocument/2006/relationships" id="2147483654" r:id="R822169757782426a"/>
    <p:sldLayoutId xmlns:r="http://schemas.openxmlformats.org/officeDocument/2006/relationships" id="2147483655" r:id="R775222ad72714b50"/>
    <p:sldLayoutId xmlns:r="http://schemas.openxmlformats.org/officeDocument/2006/relationships" id="2147483656" r:id="Rb2f18164dde845ae"/>
    <p:sldLayoutId xmlns:r="http://schemas.openxmlformats.org/officeDocument/2006/relationships" id="2147483657" r:id="R1bc7ef2f4d6a4d8b"/>
    <p:sldLayoutId xmlns:r="http://schemas.openxmlformats.org/officeDocument/2006/relationships" id="2147483658" r:id="Ra521b8767c164323"/>
    <p:sldLayoutId xmlns:r="http://schemas.openxmlformats.org/officeDocument/2006/relationships" id="2147483659" r:id="Rc69f0212bbd043c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15dc0debd5464c" /><Relationship Type="http://schemas.openxmlformats.org/officeDocument/2006/relationships/notesSlide" Target="/ppt/notesSlides/notesSlide1.xml" Id="Re2f5bad6e62b4a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893f07c4c14866" /><Relationship Type="http://schemas.openxmlformats.org/officeDocument/2006/relationships/notesSlide" Target="/ppt/notesSlides/notesSlide2.xml" Id="R131b76882625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74a436534a414c" /><Relationship Type="http://schemas.openxmlformats.org/officeDocument/2006/relationships/notesSlide" Target="/ppt/notesSlides/notesSlide3.xml" Id="R032d8fde65ab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9524f5683a4158" /><Relationship Type="http://schemas.openxmlformats.org/officeDocument/2006/relationships/notesSlide" Target="/ppt/notesSlides/notesSlide4.xml" Id="R10d3a4bcc27c40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bcc1e553874b6c" /><Relationship Type="http://schemas.openxmlformats.org/officeDocument/2006/relationships/notesSlide" Target="/ppt/notesSlides/notesSlide5.xml" Id="R07037e38eb984b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13f113bf4e4490" /><Relationship Type="http://schemas.openxmlformats.org/officeDocument/2006/relationships/notesSlide" Target="/ppt/notesSlides/notesSlide6.xml" Id="R29c2b76185f940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4198dda5df4225" /><Relationship Type="http://schemas.openxmlformats.org/officeDocument/2006/relationships/notesSlide" Target="/ppt/notesSlides/notesSlide7.xml" Id="R7c82b1200c0a4c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775b20cb5d4a12" /><Relationship Type="http://schemas.openxmlformats.org/officeDocument/2006/relationships/notesSlide" Target="/ppt/notesSlides/notesSlide8.xml" Id="R10e17a32e56943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b376883a314a5e" /><Relationship Type="http://schemas.openxmlformats.org/officeDocument/2006/relationships/notesSlide" Target="/ppt/notesSlides/notesSlide9.xml" Id="R3265b3fa729d4d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bf5746a01f423e" /><Relationship Type="http://schemas.openxmlformats.org/officeDocument/2006/relationships/notesSlide" Target="/ppt/notesSlides/notesSlide10.xml" Id="Rb89d524a195d4a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a35b18eafc463b" /><Relationship Type="http://schemas.openxmlformats.org/officeDocument/2006/relationships/notesSlide" Target="/ppt/notesSlides/notesSlide11.xml" Id="Rd57a81c89289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63004e724754" /><Relationship Type="http://schemas.openxmlformats.org/officeDocument/2006/relationships/notesSlide" Target="/ppt/notesSlides/notesSlide12.xml" Id="R5169c20dd3214c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3393226544314" /><Relationship Type="http://schemas.openxmlformats.org/officeDocument/2006/relationships/notesSlide" Target="/ppt/notesSlides/notesSlide13.xml" Id="R63b88728d1f645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286fe981d4fe1" /><Relationship Type="http://schemas.openxmlformats.org/officeDocument/2006/relationships/notesSlide" Target="/ppt/notesSlides/notesSlide14.xml" Id="R75e542d3b06d46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382899eef4d01" /><Relationship Type="http://schemas.openxmlformats.org/officeDocument/2006/relationships/notesSlide" Target="/ppt/notesSlides/notesSlide15.xml" Id="R9ca72ab719a4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B1BE78-4A71-44D8-8A14-5C7BF628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8368"/>
            <a:ext cx="69494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PEARL Pipeline 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C32BF0-01CD-4158-B510-FC785B4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53312"/>
            <a:ext cx="10424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ESM-2 · ProteinMPNN · Structural validation · MD · Endpoint energetics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14DE33-CA69-4839-A20C-60C122A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EGFR 3NJP · interfaccia B–D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24C4AA8-CE0E-4F8F-A510-0BBC21E1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ESM-2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D7E690-5E1C-4A46-99A3-E13704CE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3814F05-D521-40B8-9006-043FF4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ProteinMPNN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A9C432-570F-4A17-BCC4-A6D104CA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DD2CF5-4996-415E-8A95-1CD809B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FoldX/Rosetta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2E6CFD1-C7F8-40EA-9C0C-6B10F63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F4EA28A-096D-4B66-9545-2CA498CD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2D0349-8AAD-4ED7-9F39-8B62073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80944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02767F5-D645-4D29-A20F-DA73F60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4640"/>
            <a:ext cx="1828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9ECC39B-D5B6-45FD-8CC1-6C419A9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Tre riferimenti PEARL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9D3AB3-4485-4960-9C26-F669786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3659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74848C2-53FA-4A38-B121-0FDFA78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3659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IGERCQYRDLK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EC88F37-3AF7-4FE2-8ECC-627FA6D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473659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naturale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0CB365D-9AE4-4878-B3F7-ACFF2748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5504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2EBB4B-F1FA-4F7C-940A-0C9C07EA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5504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IGERSQYRELK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96E8BFA-285A-4863-9102-45B253AC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175504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5BE028-6894-4B8F-8557-A836A08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1441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9F1F406-3070-4D32-9514-E3F6D5C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441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IGERCQYRELR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3F72B76-C794-4D81-8A2A-95766FA4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6144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strutturale / energetico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50AC83-A07E-4E83-AB8B-CA2025A6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99632"/>
            <a:ext cx="10515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Obiettivo: proporre nuovi peptidi AI e testarli con la stessa validazione multilivello usata nelle Pipeline 2–3.</a:t>
            </a:r>
          </a:p>
        </p:txBody>
      </p:sp>
    </p:spTree>
    <p:extLst>
      <p:ext uri="{BB962C8B-B14F-4D97-AF65-F5344CB8AC3E}">
        <p14:creationId xmlns:p14="http://schemas.microsoft.com/office/powerpoint/2010/main" val="341984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D0CFF1-0EE8-48F9-80CF-6FEB546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55493-2314-4295-B9CD-1558F59D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Pipeline 4 completata: design AI → validazione strutturale → dinamica → energetica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AD7B369-FAC9-496F-80DA-9D02866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2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A17540D-8D96-41C5-8062-401E121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1ACCD5-EEAC-4C2C-B71D-9E9BA31F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campioni ProteinMPNN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0456EB5-DF6E-4F56-8AD8-F4C1C1A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E9BED2-40CD-4025-AC8C-A48A4D3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sequenze uniche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CCCF4-96E3-46D1-87F5-55CFE16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9881A8-E17A-48AD-9531-3999B84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candidati 08c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1C35EE8-87AE-48B7-B333-00F3EF3E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78228B-044C-4057-AE9F-FD5A2515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lead portati in MD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BA68BCC-F9CF-4721-B2F7-51E95559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645920"/>
            <a:ext cx="21031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70DDD9-B29D-4F82-869C-976D996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615184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snapshot endpoint / lead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4D6D8C-DC70-4426-95BA-7836B1A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Risultato principale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CCC94B-EBFB-4BF0-9EED-75F62CD5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NEW05: migliore evidenza statica FoldX/Rosetta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7D6888B-D0B5-4046-87D5-5C01184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1648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NEW01: migliore stabilità dinamica tra i nuovi lead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B182D28-B432-43CF-98C7-6BBFF68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5696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NEW05: endpoint più favorevole tra i ProteinMPNN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DBF566-5CAC-4332-907A-C82491A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9744"/>
            <a:ext cx="5394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Nessun nuovo design supera CF06/F0010/CF02 nell’endpoint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30715A6-40A9-48B7-8F66-008AC23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46120"/>
            <a:ext cx="5166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Messaggio metodologico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9B7799-DF48-40A2-BB20-4A315AA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I ranking dei metodi non coincidono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2107A0A-BF3E-4B84-A235-90B201C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discordanza è informativa, non un errore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883E37-DD17-4060-AEB8-81C4254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25696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priorizzazione finale usa convergenza di evidenze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8CD9527-1F5D-47C8-86E9-63366A8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80974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≠ ΔG assoluta / affinità sperimentale</a:t>
            </a:r>
          </a:p>
        </p:txBody>
      </p:sp>
    </p:spTree>
    <p:extLst>
      <p:ext uri="{BB962C8B-B14F-4D97-AF65-F5344CB8AC3E}">
        <p14:creationId xmlns:p14="http://schemas.microsoft.com/office/powerpoint/2010/main" val="283951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4202C92-59F7-4FCB-971A-CB16B4F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Mappa dei notebook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C509C2-3384-4C50-9AC8-4635E41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Una catena lineare con filtri progressivamente più fisici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D7222C-F538-4ECE-A8B7-00CBDD0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3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8710DE2-A08A-4892-B122-86A694B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08a
ESM-2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BB5C87-19D3-4BD3-8F5E-776FC5B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plausibilità sequenza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27E9C53-FE71-474C-BE42-73F8F037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856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65AEC1-B1FB-4CDC-B140-0A8C0AC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08b
ProteinMPNN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D43608-1378-405C-A8B4-320CBBE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design strutturale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D2569D-B22F-437C-AF08-85AAD86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7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859EAFA-2954-491E-9BD4-6F69A1B8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08c
Integrated AI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89FF5A-7833-452E-A867-0E2D7722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5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shortlist 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ADC259F-A78E-46AF-9EC4-B8300233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B096B46-8E58-4550-8FFF-261B2F7A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08d
FoldX + Rosetta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31B82E-8FAA-422B-9AAF-5904F776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79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top 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FAB7DFD-7464-4FBD-9E73-34869B0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9BA3841-12C0-439D-BD7A-7D163324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08e
MD 1 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3AA8EFB-4940-4FDF-AC95-4FE0098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814832-3968-4F9D-8841-1844A8D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1847088"/>
            <a:ext cx="2560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5084FFD-FCFC-4CDC-9D42-654C026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691640"/>
            <a:ext cx="15087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8DCD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08f
Endpoint 50 snap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2C56B1-2C96-4D18-815B-2B0193B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404872"/>
            <a:ext cx="1508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energia comparativa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AEAA3C1-12F3-40B2-B203-47D999E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Filtri progressivi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81BA214-4534-4912-98C3-1B839A2C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prior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90872D1-DD48-4295-8D0B-90E34AD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B509371-A60C-4E2D-B5E4-B571EFC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Struttura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97098A8-9AF7-4A65-B19A-B06B296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AEF3311A-8B51-482F-96A3-B249CCCA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Dinamica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B0727B2-8CB7-460C-97E1-70DA950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7" y="4517136"/>
            <a:ext cx="320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93C8AAE-7B73-4F05-81A6-4F0EB7E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4407408"/>
            <a:ext cx="192024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Energia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F00E017-629A-4BFA-A440-9BF85DD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9692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Ogni livello può confermare, ridimensionare o contraddire il precedente.</a:t>
            </a:r>
          </a:p>
        </p:txBody>
      </p:sp>
    </p:spTree>
    <p:extLst>
      <p:ext uri="{BB962C8B-B14F-4D97-AF65-F5344CB8AC3E}">
        <p14:creationId xmlns:p14="http://schemas.microsoft.com/office/powerpoint/2010/main" val="556674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A91C6A4-BC20-491C-BFF3-8CD336AA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08a–08c — Dalla plausibilità alla shortlist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7D5372-942D-44E7-B8BA-1535E604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ESM-2 valuta la sequenza; ProteinMPNN propone design compatibili con la struttura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073C12E-8481-45A9-98B2-3C61EB02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22430A-DB5C-44ED-81BB-9E57E51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08a · riferimenti PEARL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FBDC15C-DB4B-4606-BAFB-95A7A8D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3AE6B-64B0-4EB8-AAE5-099E637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574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−3.120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67D58A-B942-45FE-9B53-DBBFB7AD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0AE3BF-0390-4168-89E8-EB205E3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5146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−3.232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68EC921-B742-4220-BE93-78FEBF9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1097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C95629D-A468-4FD9-B7ED-0E4271B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971800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−3.240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A4623F-438B-40B7-AEDF-05DBFB3C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93008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Masked PLL medio · meno negativo = più plausibile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79ABED9-7DCF-4BF3-BDC7-EE01E4BE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27632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DB8AE"/>
                </a:solidFill>
                <a:latin typeface="Aptos"/>
                <a:ea typeface="Aptos"/>
                <a:cs typeface="Aptos"/>
              </a:rPr>
              <a:t>08b · ProteinMPNN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F036232-B0C5-44F7-A974-6F9DCB5B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2344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A07265B-3656-4EA1-9967-ED852AAA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4436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campioni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A803CAC-F591-4757-91D7-03AB7180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48840"/>
            <a:ext cx="12344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222DF8-B2F2-45DF-A4BE-76B1809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4436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unici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E2A099E-5C69-4489-8BAF-1BDE83A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52044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Motif ricorrente: TGPRNQYRDLX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13C14E-D6C6-4161-BEE8-9725717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627632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08c · shortlist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D0CD841-6FE2-4B8B-ADD8-356920C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48840"/>
            <a:ext cx="26517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 candidati nuovi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CFDEE97-C2E8-4E43-93FE-EA4EA322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063240"/>
            <a:ext cx="3108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scelti combinando ProteinMPNN, ESM-2, frequenza e locality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93489EE-3E59-4D00-8129-76678938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Limite chiave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76736CC-A3F7-42FA-8696-EA5983A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10515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Il punteggio AI è solo uno strumento di shortlisting: non misura affinità né stabilità fisica.</a:t>
            </a:r>
          </a:p>
        </p:txBody>
      </p:sp>
    </p:spTree>
    <p:extLst>
      <p:ext uri="{BB962C8B-B14F-4D97-AF65-F5344CB8AC3E}">
        <p14:creationId xmlns:p14="http://schemas.microsoft.com/office/powerpoint/2010/main" val="795730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1340D6-B839-4688-BA0A-D2E008F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08d — Validazione strutturale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516D6F4-04ED-472D-8D82-9E47361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FoldX + Rosetta selezionano i due lead ProteinMPNN per la MD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10D280-D61E-49A7-B2FA-AE76E21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45006F-8A87-4237-BF83-9F1E239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Ranking strutturale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F63348-947D-433F-A9C4-CF56536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2996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62E4D3C-A15B-4B2D-A319-E8C40B5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02996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FE1748-24E9-498F-A2C2-0C1C260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02996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IGPRHQYRDLP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97325C-E79D-4F95-9718-0F897EC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0545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316CBA5-AFB8-4C9A-A4A5-C691AFE6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50545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77972E1-5645-4DAA-A993-8C39397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505456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TGPRNQYRDLP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7FD2CA-58F5-40C5-BFBF-B25EEE72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0944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FB9BE6E-30AB-4445-9183-61D01907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980944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8979DA-D560-4237-B100-A921894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980944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3F88C9-437D-44AB-AF77-9CD0650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56432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A581EC-6027-495F-B54E-55E317F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45643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96B0B86-FA93-4049-B578-689097E6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456432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9555486-84DD-4446-A5A6-6B34FDE1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8B9BB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395D36B-AB9B-43E3-869E-64CEC910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93192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9D16792-B862-4F7D-9578-D78CDA7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319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83CAC80-1048-4951-9EBF-13A996C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00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Confronto top-2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FF345C0-DC86-4B31-8AA4-4F4555F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
FoldX ≈ −13.75 kcal/mol
Rosetta I_sc ≈ −56.12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8FD7B27-120F-4257-9E34-87E6279E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4831"/>
            <a:ext cx="27432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
FoldX ≈ −11.74 kcal/mol
Rosetta I_sc ≈ −54.17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C2169D-46EE-44D8-8877-325D09C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1012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Più negativo = più favorevole nei rispettivi protocolli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ED7360C-5BE6-4F8C-B495-D8B9C24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77639"/>
            <a:ext cx="1280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Risultato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0CA8DB7-4DE2-43AF-A539-34D6DE5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434840"/>
            <a:ext cx="5852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NEW05 è il lead ProteinMPNN più forte nella validazione statica e viene portato in 08e insieme a NEW01.</a:t>
            </a:r>
          </a:p>
        </p:txBody>
      </p:sp>
    </p:spTree>
    <p:extLst>
      <p:ext uri="{BB962C8B-B14F-4D97-AF65-F5344CB8AC3E}">
        <p14:creationId xmlns:p14="http://schemas.microsoft.com/office/powerpoint/2010/main" val="532135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AFB650-9686-41F1-88CE-0E3EEB89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08e — MD esplicita da 1 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E3DFB4D-0874-48ED-B0A9-ECB63DA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 due nuovi lead vengono confrontati con F0010 / CF02 / CF06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20736CE-23EC-4A8D-86BF-3FF883B4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5C96CB-4764-4139-94C9-BC50B67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76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Candidato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26BE1F-79C0-4199-A157-284EF033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RMSD 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202E61-E00D-4BDD-B003-5FD36BE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627632"/>
            <a:ext cx="1097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RMSF 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2BFBAC1-92CA-48CE-B5A9-8216DA3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276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Contatti ≥50%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8AC2A0-B3F1-4DC1-B2F0-4FEE59E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2763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Persistenza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D8183A-7963-49BC-9D0C-4AC0866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79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2D94F94-005B-4413-80B1-4569CD14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B45407-EC44-4B99-B20B-E4821787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0.901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690A87-EAD3-4E17-99E4-B77C8161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084831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0.737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CFFEA01-B8F6-407D-8DFF-A696BD7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84831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AEB00E-55F1-4522-9005-AC94EECA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084831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8922219-D295-41F9-A6BF-C847FD6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D266A5-3E50-45EE-AE5C-D3D1F2E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1.268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1B4E0C-988D-45B8-8B52-52175C0D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59689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0.920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17EB0C1-AA13-4F44-9EB4-FBCCF03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96896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5FD885-68A3-439A-9D80-A5FC7BDD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596896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0.599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9661A65-FF51-46F4-9F54-D146C56A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35808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B81DFE0-FD9E-4C4A-95ED-A70677B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B7D2A7-249A-4953-9B37-0FFA4BC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896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1.293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BF6370C-D161-48A8-AFCF-254BA6B3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0896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0.904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E594CCB-FC4F-47A0-87C0-BA0D145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E55DE62-3265-48A2-803C-1809438A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1089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0.529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80301E6-FB47-467C-B787-70B1CAE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1024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18D1537-4173-412D-B42D-D6CFCDC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2102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1.417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BC788E3-5772-4025-BDFA-5B02F51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2102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E15F595-DA23-47E6-A20C-B58776E0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21024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CA808E5-7936-4865-BA1E-ADD9E279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621024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0.535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BF1D813-7160-486C-8995-286CFA8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59935"/>
            <a:ext cx="101498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2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A95EE50-534E-459D-8E5A-6219DD26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087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ADAC45A-993F-4486-81E4-93653360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087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1.966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307A126-5AA9-484C-8FD0-329BA1DE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133087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1.164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5261405-EF12-464A-BD32-C617EE8F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33087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240C0C3-C2B9-47F6-A382-686BBFD1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33087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0.541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75F72BF-A28B-4803-9AD3-BE29CD3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Lettura tra i nuovi lead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450318B-8EF5-4DE9-9527-046094C3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21808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NEW01 è più competitivo dinamicamente di NEW05, nonostante il ranking statico opposto.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CC997F89-829E-4D47-8AC4-38D2BCF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8932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MD descrittiva: stabilità e contatti, non affinità sperimentale.</a:t>
            </a:r>
          </a:p>
        </p:txBody>
      </p:sp>
    </p:spTree>
    <p:extLst>
      <p:ext uri="{BB962C8B-B14F-4D97-AF65-F5344CB8AC3E}">
        <p14:creationId xmlns:p14="http://schemas.microsoft.com/office/powerpoint/2010/main" val="387337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B02E3A7-096A-4ACC-B483-1E621F2D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08f — Endpoint energetic comparison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EC2E49-F115-474F-8BB6-9B774AA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50 snapshot per nuovo candidato · single-trajectory MM/GBSA-like proxy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C1E19A6-3235-485A-8162-EC9CCB9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957737-101E-447C-863E-70F8DF5A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40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CF06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C840F8-6CA4-4047-A860-62179B78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691640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-65.66 ± 6.80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5B957C-6F5A-4D5C-85E2-6043B9F3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09928"/>
            <a:ext cx="4458065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FEF0C3A-7497-455A-8ED8-FA8327BF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41448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F0010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3FD76C-EB7D-43BC-A177-8F8155A3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441448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-59.46 ± 5.96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8D7FF10-F3F3-460D-A3AC-3F47AC8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59736"/>
            <a:ext cx="3380902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B1266F6-AF35-4A4F-A792-DE3C4A1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91256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CF02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C1969B-DC58-4D28-9997-438F4F74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3191256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-56.62 ± 4.63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48B0A80-F6A1-40D6-9F8D-C197EC1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09544"/>
            <a:ext cx="2887492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40F73DE-7FEF-4B20-BD3D-5B4FB630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41064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4. NEW05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7A536A5-9A48-4794-8020-CE99F5F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3941064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-53.67 ± 6.43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FA372CD-927A-46EA-8B80-9C526C5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959352"/>
            <a:ext cx="2374971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C52B781-2919-4E82-8D69-137932BD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90872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5. NEW01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9BA0F66-7A54-4C6F-AC2B-1EAF1F2F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690872"/>
            <a:ext cx="1417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-46.41 ± 4.66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8FC03C-71AF-4498-9ECB-C4F5B516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9159"/>
            <a:ext cx="1113647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E25C459-97FD-4780-95C9-81A4079A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53212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più negativo = più favorevole nel protocollo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7A99AA-BD0D-4562-AED9-600E1C0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Risultato chiave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BF502CC-FAB7-4B26-A16E-1EFA2A7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48840"/>
            <a:ext cx="374903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74045A-76F7-475A-84B1-7DCC3570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560320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 è il miglior endpoint tra i nuovi design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B174C23-C10E-4B24-8AE1-44303557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944368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 resta meno favorevole energeticamente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14B7B95-0E79-411B-A33A-E90A3DC9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328416"/>
            <a:ext cx="3749039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Entrambi rimangono sotto CF06/F0010/CF02 nell’endpoint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E325267-8A2E-4600-B81E-841D8A19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5488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Endpoint ≠ ΔGbind assoluta</a:t>
            </a:r>
          </a:p>
        </p:txBody>
      </p:sp>
    </p:spTree>
    <p:extLst>
      <p:ext uri="{BB962C8B-B14F-4D97-AF65-F5344CB8AC3E}">
        <p14:creationId xmlns:p14="http://schemas.microsoft.com/office/powerpoint/2010/main" val="1260769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D5E7B1-3FEB-4876-9CDC-5BE1DCB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Il ranking cambia con il metodo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AA73F8-088D-4C6D-B9F0-B9A7A585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Statico, dinamico ed energetico rispondono a domande diverse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B417D9C-C927-4E29-864E-F80063E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F154C3-51D7-4E7C-95E2-A6A87A3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08d · FoldX/Rosetta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70889B-C3E7-455A-85DB-F5B4755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42B92F-47F7-4814-8E18-D7A491C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BA86F7-2FF6-4202-A08F-9C5BD84D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7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08e · MD 1 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0CACB2-D94B-4C98-A492-89089FF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B08DDDB-9998-4DE4-B155-1F82941D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5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9F0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NEW05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DC09543-6CCD-41BF-8E70-09706C1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7373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08f · Endpoint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EAE36F7-7D15-42D7-B80E-30DE9EC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23317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NEW05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1DA071D-F8C2-45CD-B148-743AF63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9" y="3246120"/>
            <a:ext cx="22860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454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NEW01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A172F8-DA7E-4FA1-9CD3-5F5172D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Interpretazione integrata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53724CE-E7C8-44E2-855E-F2E15D40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 ha la convergenza più forte tra i nuovi design: migliore statico + migliore endpoint. NEW01 resta il lead dinamico complementare.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97E8E2-65AB-41DA-9843-AA4310D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25312"/>
            <a:ext cx="10652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Non costruiamo un unico score artificiale: conserviamo il significato fisico distinto di ogni metrica.</a:t>
            </a:r>
          </a:p>
        </p:txBody>
      </p:sp>
    </p:spTree>
    <p:extLst>
      <p:ext uri="{BB962C8B-B14F-4D97-AF65-F5344CB8AC3E}">
        <p14:creationId xmlns:p14="http://schemas.microsoft.com/office/powerpoint/2010/main" val="1991865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7CA7FF6-407F-4F3F-8C71-9112096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Riferimenti Pipeline 3 e razionale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307FFD0-C591-430A-8FBC-A9A20DD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Il terzo incontro rafforza il principio: uno score non definisce da solo il “miglior peptide”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29B18F-417E-4B36-93DB-BF6B3A9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9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3417815-9830-46CA-94EE-752D5628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B8A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F0010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D781B-159D-4F33-8100-4D19F64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6479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naturale / miniaturizzato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E6D51D0-3C73-483B-AE4F-69FB4EAF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BE8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683EC8A-9202-4B3A-95DD-E1D9D61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58775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dinamico · miglior MD 1 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FA9E3DC-BF50-4F44-AD91-B6CEB36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4173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F69E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CF06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177740-B46D-44C8-90C2-508F649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410712"/>
            <a:ext cx="4663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riferimento strutturale / energetico · Rosetta + endpoint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AAA943-FA75-4389-A21C-660B5DA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2103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Lezione CF05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980D3F-EA56-4CE8-8ECE-C2BBFA4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6766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Pair score → CF05, ma production 1 ns e endpoint non lo confermano come candidato fisicamente più forte.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FE00857-B2F5-4A1C-9700-50D55A7C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37360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Conseguenza per Pipeline 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9EB884-2BD7-475B-9E14-3B8942B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0312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E80E5A9-0575-4872-886A-F97AECD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514600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AI = generazione / prior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7EF3AF5-ED09-4FD2-BF5A-9263200B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98648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FoldX/Rosetta = filtro strutturale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273394-9488-4B63-8156-525405D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82696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MD = validazione dinamica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3601718-6835-4D92-A3F3-91F8DA0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66744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= evidenza energetica comparativa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03DE444-FCB3-4C4A-BD75-04F7AA0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50791"/>
            <a:ext cx="3474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Nessun livello è sufficiente da solo</a:t>
            </a:r>
          </a:p>
        </p:txBody>
      </p:sp>
    </p:spTree>
    <p:extLst>
      <p:ext uri="{BB962C8B-B14F-4D97-AF65-F5344CB8AC3E}">
        <p14:creationId xmlns:p14="http://schemas.microsoft.com/office/powerpoint/2010/main" val="1349577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1D2694-6943-4A26-97B9-9656EEA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Interpretazione e limiti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9D8E99-E8E2-467D-8083-174AD45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Cosa possiamo dire — e cosa non ancora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715A13-43F0-4B72-A191-4E17A7D7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0EDC3B-F15A-4F40-93D7-77FEACF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257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Possiamo dire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5063D-B6AE-4C8A-8470-4E655D2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ProteinMPNN produce nuovi lead strutturalmente plausibili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2E7C45-96BE-42C7-A4FA-DD96D91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41448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NEW05 ha il supporto cross-method più forte tra i nuovi design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53AAE4-0F64-45AE-B2C1-5DBB5A54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25496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NEW01 è il miglior nuovo lead per dinamica 1 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A1FAC2-0EFC-4629-BD58-C141B68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09544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I riferimenti Pipeline 3 restano superiori nell’endpoint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631F06-A30D-4F14-A032-1096032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93591"/>
            <a:ext cx="5257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La pipeline rileva correttamente discordanza tra metodi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48C042-6F7D-470A-BEDA-CBE1402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5166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EF5C5C"/>
                </a:solidFill>
                <a:latin typeface="Aptos"/>
                <a:ea typeface="Aptos"/>
                <a:cs typeface="Aptos"/>
              </a:rPr>
              <a:t>Non possiamo dire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184D404-0E44-4E82-835B-5D0D77AA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57400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Non è validazione sperimentale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F59FFD-BDD8-4DF6-99AE-7696B63A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41448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1 ns non dimostra convergenza completa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74F3DB-71DE-4E90-A27A-5CE8F90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25496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Endpoint non è ΔGbind rigorosa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1789A25-F18D-4922-8F06-1999F9FB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09544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No Kd / Ki / IC50 quantitativi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CCA011-58A6-4BB2-937A-6D4DBE4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593591"/>
            <a:ext cx="5166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• Assenza di repliche indipendenti e di calibrazione sperimentale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86F4F00-4D1A-4B9D-9B98-33BFA9D1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Uso corretto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192476-DD69-4D63-ABD6-003C81B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77840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Prioritizzare i candidati e decidere dove investire calcolo o validazione sperimentale più costosi.</a:t>
            </a:r>
          </a:p>
        </p:txBody>
      </p:sp>
    </p:spTree>
    <p:extLst>
      <p:ext uri="{BB962C8B-B14F-4D97-AF65-F5344CB8AC3E}">
        <p14:creationId xmlns:p14="http://schemas.microsoft.com/office/powerpoint/2010/main" val="2822779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4722864-8A63-4949-807E-0C9BEA0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Stato finale della Pipeline 4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B7B715-6697-4719-BD53-1714283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24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Completata come ramo AI-guided con validazione strutturale, dinamica ed energetica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E7E16D-735A-498A-AE52-933FEB3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8288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8B9BB2"/>
                </a:solidFill>
                <a:latin typeface="Aptos"/>
                <a:ea typeface="Aptos"/>
                <a:cs typeface="Aptos"/>
              </a:rPr>
              <a:t>Pipeline 4 · PEARL / EGFR 3NJP · slide 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49A4E4-7A71-48EE-B016-71D536D4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2F69E1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5A716B-BA64-4674-A89D-00BEA75F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0876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ESM-2 sequence plausibility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EA9974-E0B9-45AD-94ED-67AF7AE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75688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DB8A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603124E-F038-4122-9CE2-406315E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75688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ProteinMPNN constrained design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9D26DC9-1697-41E1-A35A-1EC4FF2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42615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8BE8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E509BA-8CAB-4E71-A322-21B7B2B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42615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Shortlist integrata di 5 candidati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253A12-E09B-4FE5-AE69-03E3CED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9544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D168BF-9632-45F2-B882-0E32EA6E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09544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FoldX + Rosetta su tutti i 5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307A2F-0927-47E7-96B0-B61E3AA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76472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4534F7-FCF4-40CD-A0BE-9B066EF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76472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MD 1 ns su NEW05 / NEW01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EA78F6A-AB08-4924-B07D-25C1FD0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43400"/>
            <a:ext cx="365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1721BC0-C84F-4F48-9CCD-80D288F0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43400"/>
            <a:ext cx="49377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Endpoint production 50 snapshot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82D82F5-FE57-4937-B7ED-D5A2312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0876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58DCD6"/>
                </a:solidFill>
                <a:latin typeface="Aptos"/>
                <a:ea typeface="Aptos"/>
                <a:cs typeface="Aptos"/>
              </a:rPr>
              <a:t>Conclusione finale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C56B42A-5A16-483E-B64A-B37429B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05740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NEW05 = lead ProteinMPNN con la maggiore convergenza cross-method.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0C91F7-3785-4B69-8480-1C304D0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BECADA"/>
                </a:solidFill>
                <a:latin typeface="Aptos"/>
                <a:ea typeface="Aptos"/>
                <a:cs typeface="Aptos"/>
              </a:rPr>
              <a:t>NEW01 = lead dinamico complementare.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A276003-0436-4069-9929-6DD3034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74720"/>
            <a:ext cx="47548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9F0A"/>
                </a:solidFill>
                <a:latin typeface="Aptos"/>
                <a:ea typeface="Aptos"/>
                <a:cs typeface="Aptos"/>
              </a:rPr>
              <a:t>Nessun nuovo design supera i riferimenti Pipeline 3 nell’endpoint.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0F38754-368C-4EB6-A870-EBE11A1C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7200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8454EB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76DD974-222D-410C-8B65-1D5131F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83480"/>
            <a:ext cx="4754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Sintesi integrata Pipeline 4 / relazione finale; eventuale free-energy più rigorosa o validazione sperimentale solo come step successivo.</a:t>
            </a:r>
          </a:p>
        </p:txBody>
      </p:sp>
    </p:spTree>
    <p:extLst>
      <p:ext uri="{BB962C8B-B14F-4D97-AF65-F5344CB8AC3E}">
        <p14:creationId xmlns:p14="http://schemas.microsoft.com/office/powerpoint/2010/main" val="1467250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C5279-B344-43A7-A850-5D60320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PEARL • PIPELINE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C9DBF-59C6-47DE-9124-DD1C028E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08g — Structural plausibility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64511-0A78-48B0-BEC6-0E53C655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ESMFold / ColabFold external predictions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A5CD7-09B4-4568-83FC-2AE6E79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Two ProteinMPNN sequences were assessed independently from sequence: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• MPNN_NEW_01  TGPRNQYRDLP   mean pLDDT 72.56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• MPNN_NEW_05  IGPRHQYRDLP   mean pLDDT 67.27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Both PDBs contain 11 residues and passed structural-file QC.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Interpretation: conformational plausibility only; pLDDT/pTM are not affinity measures.</a:t>
            </a:r>
          </a:p>
        </p:txBody>
      </p:sp>
    </p:spTree>
    <p:extLst>
      <p:ext uri="{BB962C8B-B14F-4D97-AF65-F5344CB8AC3E}">
        <p14:creationId xmlns:p14="http://schemas.microsoft.com/office/powerpoint/2010/main" val="1716785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D2CDB-C5F4-4188-AA4E-0B8B0A14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PEARL • PIPELINE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E2F38-BF1F-4BA0-998B-DB68338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08h — Developability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02C5-85CB-4C54-A13B-99071BB4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Sequence-derived solubility and developability proxies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31F77-08E2-4D2B-AD0F-6F411BC0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MPNN_NEW_01: net charge +1 • hydrophobic fraction 0.182 • no flags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MPNN_NEW_05: net charge +2 • hydrophobic fraction 0.273 • no flags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The current screen is a transparent proxy, not experimental solubility.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CamSol was not available in the executed run.</a:t>
            </a:r>
          </a:p>
        </p:txBody>
      </p:sp>
    </p:spTree>
    <p:extLst>
      <p:ext uri="{BB962C8B-B14F-4D97-AF65-F5344CB8AC3E}">
        <p14:creationId xmlns:p14="http://schemas.microsoft.com/office/powerpoint/2010/main" val="1316183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F1B9F-B6DC-431D-8A62-04EAF86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PEARL • PIPELINE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A977A-71CC-4FB0-882F-7DC5188D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08i — Bayesian optimisation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F687-3370-45C2-9453-B6F9137F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Evidence integration and proposal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443CC-BB90-4FB3-A86F-0292FCB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08f endpoint energy + 08g structural plausibility + 08h developability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With two observed candidates, no unsupported new sequence was proposed.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BoTorch was reported as unavailable; the result is an exploratory ranking framework, not a validated GP posterior.</a:t>
            </a:r>
          </a:p>
        </p:txBody>
      </p:sp>
    </p:spTree>
    <p:extLst>
      <p:ext uri="{BB962C8B-B14F-4D97-AF65-F5344CB8AC3E}">
        <p14:creationId xmlns:p14="http://schemas.microsoft.com/office/powerpoint/2010/main" val="17780327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732E3-D040-41B5-AB9B-88BFA7C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PEARL • PIPELINE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C92F7-ED13-4870-95E7-C7C796B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08j — Final multi-objective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5E599-BB4E-4336-9532-E3BD21C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Transparent ranking with equal weights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CC28A-2BC1-4BF3-A6C6-A94274A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47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RANK 1  MPNN_NEW_01  TGPRNQYRDLP</a:t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RANK 2  MPNN_NEW_05  IGPRHQYRDLP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MPNN_NEW_05 has the more favourable endpoint energy, while MPNN_NEW_01 has stronger pLDDT and developability proxies.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Pipeline 4 is complete as AI-guided peptide sequence optimisation; experimental validation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5068906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2026-08-23T13:15:01.3370000Z</dcterms:created>
  <dcterms:modified xsi:type="dcterms:W3CDTF">2026-08-23T13:15:01.3370000Z</dcterms:modified>
</coreProperties>
</file>