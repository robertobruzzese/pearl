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11356848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5 · PEARL / EGFR 3NJP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PEARL Pipeline 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252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E3"/>
                </a:solidFill>
              </a:rPr>
              <a:t>Pharmacophore · small-molecule generation · DiffDock · Vina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E0D7"/>
                </a:solidFill>
              </a:rPr>
              <a:t>EGFR 3NJP — dal peptide validato a lead small-molecule prioritizzati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3127248"/>
            <a:ext cx="256032" cy="256032"/>
          </a:xfrm>
          <a:prstGeom prst="ellipse">
            <a:avLst/>
          </a:prstGeom>
          <a:solidFill>
            <a:srgbClr val="DCEAFF"/>
          </a:solidFill>
          <a:ln w="12700">
            <a:solidFill>
              <a:srgbClr val="DCE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3127248"/>
            <a:ext cx="256032" cy="256032"/>
          </a:xfrm>
          <a:prstGeom prst="ellipse">
            <a:avLst/>
          </a:prstGeom>
          <a:solidFill>
            <a:srgbClr val="BDF4EF"/>
          </a:solidFill>
          <a:ln w="12700">
            <a:solidFill>
              <a:srgbClr val="BDF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3127248"/>
            <a:ext cx="256032" cy="256032"/>
          </a:xfrm>
          <a:prstGeom prst="ellipse">
            <a:avLst/>
          </a:prstGeom>
          <a:solidFill>
            <a:srgbClr val="BDEFD5"/>
          </a:solidFill>
          <a:ln w="12700">
            <a:solidFill>
              <a:srgbClr val="BDEF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127248"/>
            <a:ext cx="256032" cy="256032"/>
          </a:xfrm>
          <a:prstGeom prst="ellipse">
            <a:avLst/>
          </a:prstGeom>
          <a:solidFill>
            <a:srgbClr val="FFF0B8"/>
          </a:solidFill>
          <a:ln w="12700">
            <a:solidFill>
              <a:srgbClr val="FFF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127248"/>
            <a:ext cx="256032" cy="256032"/>
          </a:xfrm>
          <a:prstGeom prst="ellipse">
            <a:avLst/>
          </a:prstGeom>
          <a:solidFill>
            <a:srgbClr val="FFD2A6"/>
          </a:solidFill>
          <a:ln w="12700">
            <a:solidFill>
              <a:srgbClr val="FFD2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3127248"/>
            <a:ext cx="256032" cy="256032"/>
          </a:xfrm>
          <a:prstGeom prst="ellipse">
            <a:avLst/>
          </a:prstGeom>
          <a:solidFill>
            <a:srgbClr val="BDF4EF"/>
          </a:solidFill>
          <a:ln w="12700">
            <a:solidFill>
              <a:srgbClr val="BDF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3127248"/>
            <a:ext cx="256032" cy="256032"/>
          </a:xfrm>
          <a:prstGeom prst="ellipse">
            <a:avLst/>
          </a:prstGeom>
          <a:solidFill>
            <a:srgbClr val="BDEFD5"/>
          </a:solidFill>
          <a:ln w="12700">
            <a:solidFill>
              <a:srgbClr val="BDE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45643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B9C3D4"/>
                </a:solidFill>
              </a:rPr>
              <a:t>MD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1508760" y="3456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B9C3D4"/>
                </a:solidFill>
              </a:rPr>
              <a:t>Pharm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2212848" y="3456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B9C3D4"/>
                </a:solidFill>
              </a:rPr>
              <a:t>Chem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2880360" y="3456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B9C3D4"/>
                </a:solidFill>
              </a:rPr>
              <a:t>Dock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658368" y="4160520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3251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09a → 09b → 09c → 09d → 09e → 09f → 09g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600760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A7BB"/>
                </a:solidFill>
              </a:rPr>
              <a:t>Risultato computazionale: lead prioritizzati, non validazione sperimentale.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è stato completato nella quinta pipeline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1965960" cy="850392"/>
          </a:xfrm>
          <a:prstGeom prst="roundRect">
            <a:avLst>
              <a:gd name="adj" fmla="val 8602"/>
            </a:avLst>
          </a:prstGeom>
          <a:solidFill>
            <a:srgbClr val="EEF5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78992"/>
            <a:ext cx="45720" cy="850392"/>
          </a:xfrm>
          <a:prstGeom prst="rect">
            <a:avLst/>
          </a:prstGeom>
          <a:solidFill>
            <a:srgbClr val="4C8FDB"/>
          </a:solidFill>
          <a:ln w="12700">
            <a:solidFill>
              <a:srgbClr val="4C8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18872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8FDB"/>
                </a:solidFill>
              </a:rPr>
              <a:t>17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" y="15179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core pharmacophore features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078992"/>
            <a:ext cx="1965960" cy="850392"/>
          </a:xfrm>
          <a:prstGeom prst="roundRect">
            <a:avLst>
              <a:gd name="adj" fmla="val 8602"/>
            </a:avLst>
          </a:prstGeom>
          <a:solidFill>
            <a:srgbClr val="BDF4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078992"/>
            <a:ext cx="45720" cy="850392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118872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B8A5"/>
                </a:solidFill>
              </a:rPr>
              <a:t>1000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26664" y="15179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molecole analizzate in 09c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74920" y="1078992"/>
            <a:ext cx="1965960" cy="850392"/>
          </a:xfrm>
          <a:prstGeom prst="roundRect">
            <a:avLst>
              <a:gd name="adj" fmla="val 8602"/>
            </a:avLst>
          </a:prstGeom>
          <a:solidFill>
            <a:srgbClr val="E5F9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078992"/>
            <a:ext cx="45720" cy="850392"/>
          </a:xfrm>
          <a:prstGeom prst="rect">
            <a:avLst/>
          </a:prstGeom>
          <a:solidFill>
            <a:srgbClr val="2FB87A"/>
          </a:solidFill>
          <a:ln w="12700">
            <a:solidFill>
              <a:srgbClr val="2FB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18872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7A"/>
                </a:solidFill>
              </a:rPr>
              <a:t>80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21224" y="15179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pose DiffDock analizzate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69480" y="1078992"/>
            <a:ext cx="1965960" cy="850392"/>
          </a:xfrm>
          <a:prstGeom prst="roundRect">
            <a:avLst>
              <a:gd name="adj" fmla="val 8602"/>
            </a:avLst>
          </a:prstGeom>
          <a:solidFill>
            <a:srgbClr val="FFF8D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078992"/>
            <a:ext cx="45720" cy="850392"/>
          </a:xfrm>
          <a:prstGeom prst="rect">
            <a:avLst/>
          </a:prstGeom>
          <a:solidFill>
            <a:srgbClr val="F49A3E"/>
          </a:solidFill>
          <a:ln w="12700">
            <a:solidFill>
              <a:srgbClr val="F4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5784" y="118872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9A3E"/>
                </a:solidFill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15784" y="15179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finalisti Vina / 09g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242316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253288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Lead finale: MOL00583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" y="2816352"/>
            <a:ext cx="28895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supporto top-2 in 4/6 assi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convergenza cross-method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43400" y="242316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53288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Alternativa energetica: MOL00600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53128" y="2816352"/>
            <a:ext cx="28895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miglior Vina post-refinement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-5.791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09560" y="242316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9288" y="253288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Alternativa geometrica: MOL00484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19288" y="2816352"/>
            <a:ext cx="28895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RMSD locale 0.057 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contact fraction = 1.00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3232" y="3886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Messaggio chiave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418795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2940"/>
                </a:solidFill>
              </a:rPr>
              <a:t>La Pipeline 5 collega farmacoforo MD-derived, chimica, DiffDock e Vina senza trasformare score eterogenei in un finto ΔG unico. Il risultato finale è una priorità computazionale trasparente e multi-criterio.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MOL00583 è il lead computazionale finale; MOL00484, MOL00600 e MOL00273 restano follow-up ortogonali.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Mappa dei notebook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farmacoforo dinamico a selezione integrata del lead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B8DAFF"/>
          </a:solidFill>
          <a:ln w="10160">
            <a:solidFill>
              <a:srgbClr val="B8D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MD pharmacophore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66544" y="2304288"/>
            <a:ext cx="21031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67712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BDEFD5"/>
          </a:solidFill>
          <a:ln w="10160">
            <a:solidFill>
              <a:srgbClr val="BDE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Consolidation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75888" y="2304288"/>
            <a:ext cx="21031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77056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86784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REINVENT4 + screen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85232" y="2304288"/>
            <a:ext cx="21031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FFF0B8"/>
          </a:solidFill>
          <a:ln w="10160">
            <a:solidFill>
              <a:srgbClr val="FFF0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96128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Chemistry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94576" y="2304288"/>
            <a:ext cx="21031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95744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DCEAFF"/>
          </a:solidFill>
          <a:ln w="10160">
            <a:solidFill>
              <a:srgbClr val="DCE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05472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DiffDock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503920" y="2304288"/>
            <a:ext cx="21031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05088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FFD2A6"/>
          </a:solidFill>
          <a:ln w="10160">
            <a:solidFill>
              <a:srgbClr val="FFD2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14816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14816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Vina local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113264" y="2304288"/>
            <a:ext cx="21031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14432" y="1874520"/>
            <a:ext cx="1389888" cy="868680"/>
          </a:xfrm>
          <a:prstGeom prst="roundRect">
            <a:avLst>
              <a:gd name="adj" fmla="val 8421"/>
            </a:avLst>
          </a:prstGeom>
          <a:solidFill>
            <a:srgbClr val="BDEFD5"/>
          </a:solidFill>
          <a:ln w="10160">
            <a:solidFill>
              <a:srgbClr val="BDEF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198424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09g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424160" y="2267712"/>
            <a:ext cx="1170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Integrated selection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20440" y="3685032"/>
            <a:ext cx="5138928" cy="932688"/>
          </a:xfrm>
          <a:prstGeom prst="roundRect">
            <a:avLst>
              <a:gd name="adj" fmla="val 7843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886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Output integrato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822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MOL00583 primary computational lead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+ 3 follow-up leads Pareto-nondominated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53328" y="2743200"/>
            <a:ext cx="0" cy="914400"/>
          </a:xfrm>
          <a:prstGeom prst="line">
            <a:avLst/>
          </a:prstGeom>
          <a:noFill/>
          <a:ln w="15240">
            <a:solidFill>
              <a:srgbClr val="C3A944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Ogni notebook conserva la provenienza dei candidati e separa evidenza farmacoforica, chimica, strutturale ed energetica.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09a — MD-derived pharmacophore extraction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Dalle traiettorie peptide–EGFR a feature persistenti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51560"/>
            <a:ext cx="45720" cy="822960"/>
          </a:xfrm>
          <a:prstGeom prst="rect">
            <a:avLst/>
          </a:prstGeom>
          <a:solidFill>
            <a:srgbClr val="4C8FDB"/>
          </a:solidFill>
          <a:ln w="12700">
            <a:solidFill>
              <a:srgbClr val="4C8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8FDB"/>
                </a:solidFill>
              </a:rPr>
              <a:t>300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frame totali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100 × 3 candidati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70632" y="10515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BDF4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0632" y="1051560"/>
            <a:ext cx="45720" cy="822960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161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B8A5"/>
                </a:solidFill>
              </a:rPr>
              <a:t>5330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16936" y="14904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feature observations attive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82896" y="10515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5F9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1051560"/>
            <a:ext cx="45720" cy="822960"/>
          </a:xfrm>
          <a:prstGeom prst="rect">
            <a:avLst/>
          </a:prstGeom>
          <a:solidFill>
            <a:srgbClr val="2FB87A"/>
          </a:solidFill>
          <a:ln w="12700">
            <a:solidFill>
              <a:srgbClr val="2FB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61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7A"/>
                </a:solidFill>
              </a:rPr>
              <a:t>59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14904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feature persistenti candidate-level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10515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8D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1051560"/>
            <a:ext cx="45720" cy="822960"/>
          </a:xfrm>
          <a:prstGeom prst="rect">
            <a:avLst/>
          </a:prstGeom>
          <a:solidFill>
            <a:srgbClr val="F49A3E"/>
          </a:solidFill>
          <a:ln w="12700">
            <a:solidFill>
              <a:srgbClr val="F4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1464" y="1161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9A3E"/>
                </a:solidFill>
              </a:rPr>
              <a:t>17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41464" y="14904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core consensus features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304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Famiglie farmacoforiche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26700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DCEAFF"/>
          </a:solidFill>
          <a:ln w="10160">
            <a:solidFill>
              <a:srgbClr val="DCE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2734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HBD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1764792" y="26700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9656" y="2734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HBA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816352" y="26700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BDEFD5"/>
          </a:solidFill>
          <a:ln w="10160">
            <a:solidFill>
              <a:srgbClr val="BDEF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2734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HYD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867912" y="26700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FF0B8"/>
          </a:solidFill>
          <a:ln w="10160">
            <a:solidFill>
              <a:srgbClr val="FFF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2776" y="2734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ARO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919472" y="26700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FD2A6"/>
          </a:solidFill>
          <a:ln w="10160">
            <a:solidFill>
              <a:srgbClr val="FFD2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734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POS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971032" y="26700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FD0D0"/>
          </a:solidFill>
          <a:ln w="10160">
            <a:solidFill>
              <a:srgbClr val="FF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2734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NEG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713232" y="3273552"/>
            <a:ext cx="5029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Input biologico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0" y="34107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CF02 · CF06 · ProteinMPNN NEW05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ensemble peptide bound to EGFR chain 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273552"/>
            <a:ext cx="4389120" cy="1078992"/>
          </a:xfrm>
          <a:prstGeom prst="roundRect">
            <a:avLst>
              <a:gd name="adj" fmla="val 6780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34930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Output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34015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2940"/>
                </a:solidFill>
              </a:rPr>
              <a:t>pharmacophore dinamico condiviso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2940"/>
                </a:solidFill>
              </a:rPr>
              <a:t>QC completo + export RDKit Pharm3D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Le feature derivano dalla persistenza osservata nelle traiettorie, non da una singola struttura statica.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09b — Pharmacophore consolidation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17 feature core a un modello screening-ready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EF5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78992"/>
            <a:ext cx="45720" cy="822960"/>
          </a:xfrm>
          <a:prstGeom prst="rect">
            <a:avLst/>
          </a:prstGeom>
          <a:solidFill>
            <a:srgbClr val="4C8FDB"/>
          </a:solidFill>
          <a:ln w="12700">
            <a:solidFill>
              <a:srgbClr val="4C8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188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8FDB"/>
                </a:solidFill>
              </a:rPr>
              <a:t>10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" y="151790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gruppi consolidati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0" y="1078992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5F9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078992"/>
            <a:ext cx="45720" cy="822960"/>
          </a:xfrm>
          <a:prstGeom prst="rect">
            <a:avLst/>
          </a:prstGeom>
          <a:solidFill>
            <a:srgbClr val="2FB87A"/>
          </a:solidFill>
          <a:ln w="12700">
            <a:solidFill>
              <a:srgbClr val="2FB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1188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7A"/>
                </a:solidFill>
              </a:rPr>
              <a:t>5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72384" y="151790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mandatory groups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66360" y="1078992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BDF4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078992"/>
            <a:ext cx="45720" cy="822960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1188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B8A5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12664" y="151790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optional groups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078992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8D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78992"/>
            <a:ext cx="45720" cy="822960"/>
          </a:xfrm>
          <a:prstGeom prst="rect">
            <a:avLst/>
          </a:prstGeom>
          <a:solidFill>
            <a:srgbClr val="F49A3E"/>
          </a:solidFill>
          <a:ln w="12700">
            <a:solidFill>
              <a:srgbClr val="F4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11887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9A3E"/>
                </a:solidFill>
              </a:rPr>
              <a:t>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52944" y="1517904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contextual group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" y="24140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Regola di screening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743200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9992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40"/>
                </a:solidFill>
              </a:rPr>
              <a:t>TUTTI i 5 gruppi mandatory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8928" y="29077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7A8E"/>
                </a:solidFill>
              </a:rPr>
              <a:t>+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577840" y="274320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999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40"/>
                </a:solidFill>
              </a:rPr>
              <a:t>≥ 1 optional group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9776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Esempi di gruppi mandatory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" y="4315968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25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PG01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" y="47091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ANY_OF(HBD, POS)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880360" y="4315968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4425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PG02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90088" y="47091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HYD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10912" y="4315968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425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PG03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7091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ANY_OF(ARO, HYD)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41464" y="4315968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51192" y="4425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PG04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51192" y="47091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ANY_OF(HBA, HBD)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272016" y="4315968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81744" y="4425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PG05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81744" y="47091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HBD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La consolidazione usa una distanza di ridondanza ~1.25 Å e mantiene tolleranze feature-specific.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09c — REINVENT4 + pharmacophore screening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Generazione de novo seguita da filtro farmacoforico 3D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40"/>
                </a:solidFill>
              </a:rPr>
              <a:t>5000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2104" y="19110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SMILES richiesti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REINVENT4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478024" y="1920240"/>
            <a:ext cx="25603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43784" y="14173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40"/>
                </a:solidFill>
              </a:rPr>
              <a:t>1000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90088" y="19110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molecole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analizzate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636008" y="1920240"/>
            <a:ext cx="25603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01768" y="14173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40"/>
                </a:solidFill>
              </a:rPr>
              <a:t>996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48072" y="19110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embedding 3D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riuscito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793992" y="1920240"/>
            <a:ext cx="25603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59752" y="14173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40"/>
                </a:solidFill>
              </a:rPr>
              <a:t>83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06056" y="19110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mandatory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completi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951976" y="1920240"/>
            <a:ext cx="256032" cy="0"/>
          </a:xfrm>
          <a:prstGeom prst="line">
            <a:avLst/>
          </a:prstGeom>
          <a:noFill/>
          <a:ln w="15240">
            <a:solidFill>
              <a:srgbClr val="AAB4C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17736" y="14173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D2A6"/>
          </a:solidFill>
          <a:ln w="10160">
            <a:solidFill>
              <a:srgbClr val="FFD2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940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64040" y="19110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strict pharmacophore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1D2940"/>
                </a:solidFill>
              </a:rPr>
              <a:t>hits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005840" y="320040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FF0F0"/>
          </a:solidFill>
          <a:ln w="10160">
            <a:solidFill>
              <a:srgbClr val="FF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447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868"/>
                </a:solidFill>
              </a:rPr>
              <a:t>MOL00336 / MOL00570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940"/>
                </a:solidFill>
              </a:rPr>
              <a:t>strict hits, ma chimicamente deboli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3200400"/>
            <a:ext cx="4526280" cy="1024128"/>
          </a:xfrm>
          <a:prstGeom prst="roundRect">
            <a:avLst>
              <a:gd name="adj" fmla="val 7143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Nota metodologica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sampling REINVENT4 non vincolato + screening farmacoforico downstream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≠ pharmacophore-guided RL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Il farmacoforo seleziona dopo la generazione: non va presentato come conditioning diretto del modello generativo.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09d — Chemistry, drug-likeness e rescue track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strict screen non produce lead chimicamente eleggibili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0F0"/>
          </a:solidFill>
          <a:ln w="10160">
            <a:solidFill>
              <a:srgbClr val="FFF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5272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Strict pharmacophore hits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2 candidati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→ 2 CHEM_FAIL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25272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Primary docking strict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6008" y="1536192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0 candidati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39328" y="1143000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125272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Near-miss rescue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49056" y="1536192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8 candidati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CHEM_PASS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5420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Filtri applicati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71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Lipinski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779776" y="29077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971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Veber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4809744" y="29077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971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QED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39712" y="29077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2971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PAINS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49808" y="33649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4290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Brenk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779776" y="33649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4290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SA score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809744" y="33649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4290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Morgan/Tanimoto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839712" y="336499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34290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Butina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439912" y="2532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Docking shortlist 09d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94192" y="287121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293522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MOL00053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9902952" y="287121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57816" y="293522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MOL00484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394192" y="3300984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MOL00273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9902952" y="3300984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57816" y="33649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MOL00600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8394192" y="3730752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9056" y="3794760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MOL00294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9902952" y="3730752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57816" y="3794760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MOL00857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394192" y="41605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49056" y="42245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MOL00583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9902952" y="41605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57816" y="42245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MOL00489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749808" y="4160520"/>
            <a:ext cx="6903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4389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Principio chiave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59152" y="42885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D2940"/>
                </a:solidFill>
              </a:rPr>
              <a:t>evidenza farmacoforica ≠ eleggibilità chimica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b="1" dirty="0">
                <a:solidFill>
                  <a:srgbClr val="1D2940"/>
                </a:solidFill>
              </a:rPr>
              <a:t>I rescue restano NEAR_MISS_MANDATORY_ONLY anche se superano docking e Vina.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La pipeline conserva lo status dei candidati: il downstream non “promuove” artificialmente un near-miss a strict hit.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09e — DiffDock docking e pose evaluation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candidati × 10 pose sul recettore EGFR chain B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85800" y="1042416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EEF5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42416"/>
            <a:ext cx="45720" cy="804672"/>
          </a:xfrm>
          <a:prstGeom prst="rect">
            <a:avLst/>
          </a:prstGeom>
          <a:solidFill>
            <a:srgbClr val="4C8FDB"/>
          </a:solidFill>
          <a:ln w="12700">
            <a:solidFill>
              <a:srgbClr val="4C8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15214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8FDB"/>
                </a:solidFill>
              </a:rPr>
              <a:t>80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" y="148132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pose analizzate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88920" y="1042416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E5F9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042416"/>
            <a:ext cx="45720" cy="804672"/>
          </a:xfrm>
          <a:prstGeom prst="rect">
            <a:avLst/>
          </a:prstGeom>
          <a:solidFill>
            <a:srgbClr val="2FB87A"/>
          </a:solidFill>
          <a:ln w="12700">
            <a:solidFill>
              <a:srgbClr val="2FB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115214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87A"/>
                </a:solidFill>
              </a:rPr>
              <a:t>8 / 8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35224" y="148132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candidati con best pose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92040" y="1042416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BDF4E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042416"/>
            <a:ext cx="45720" cy="804672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15214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B8A5"/>
                </a:solidFill>
              </a:rPr>
              <a:t>10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38344" y="148132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pose / candidato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1042416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FFF8D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1042416"/>
            <a:ext cx="45720" cy="804672"/>
          </a:xfrm>
          <a:prstGeom prst="rect">
            <a:avLst/>
          </a:prstGeom>
          <a:solidFill>
            <a:srgbClr val="F49A3E"/>
          </a:solidFill>
          <a:ln w="12700">
            <a:solidFill>
              <a:srgbClr val="F4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1464" y="115214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9A3E"/>
                </a:solidFill>
              </a:rPr>
              <a:t>20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41464" y="148132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7A8E"/>
                </a:solidFill>
              </a:rPr>
              <a:t>inference steps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" y="22768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Top-4 09e — pose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2660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940"/>
                </a:solidFill>
              </a:rPr>
              <a:t>MOL00273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1892808" y="2697480"/>
            <a:ext cx="4709160" cy="256032"/>
          </a:xfrm>
          <a:prstGeom prst="round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92808" y="2697480"/>
            <a:ext cx="4447540" cy="256032"/>
          </a:xfrm>
          <a:prstGeom prst="roundRect">
            <a:avLst/>
          </a:prstGeom>
          <a:solidFill>
            <a:srgbClr val="4C8FDB"/>
          </a:solidFill>
          <a:ln w="12700">
            <a:solidFill>
              <a:srgbClr val="4C8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D2940"/>
                </a:solidFill>
              </a:rPr>
              <a:t>0.850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49808" y="31181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940"/>
                </a:solidFill>
              </a:rPr>
              <a:t>MOL00583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1892808" y="3154680"/>
            <a:ext cx="4709160" cy="256032"/>
          </a:xfrm>
          <a:prstGeom prst="round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92808" y="3154680"/>
            <a:ext cx="4327195" cy="256032"/>
          </a:xfrm>
          <a:prstGeom prst="roundRect">
            <a:avLst/>
          </a:prstGeom>
          <a:solidFill>
            <a:srgbClr val="2FB87A"/>
          </a:solidFill>
          <a:ln w="12700">
            <a:solidFill>
              <a:srgbClr val="2FB8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D2940"/>
                </a:solidFill>
              </a:rPr>
              <a:t>0.827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749808" y="35753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940"/>
                </a:solidFill>
              </a:rPr>
              <a:t>MOL00600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1892808" y="3611880"/>
            <a:ext cx="4709160" cy="256032"/>
          </a:xfrm>
          <a:prstGeom prst="round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92808" y="3611880"/>
            <a:ext cx="4159758" cy="256032"/>
          </a:xfrm>
          <a:prstGeom prst="round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602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D2940"/>
                </a:solidFill>
              </a:rPr>
              <a:t>0.795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49808" y="40325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940"/>
                </a:solidFill>
              </a:rPr>
              <a:t>MOL00484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1892808" y="4069080"/>
            <a:ext cx="4709160" cy="256032"/>
          </a:xfrm>
          <a:prstGeom prst="round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92808" y="4069080"/>
            <a:ext cx="4028948" cy="256032"/>
          </a:xfrm>
          <a:prstGeom prst="roundRect">
            <a:avLst/>
          </a:prstGeom>
          <a:solidFill>
            <a:srgbClr val="F49A3E"/>
          </a:solidFill>
          <a:ln w="12700">
            <a:solidFill>
              <a:srgbClr val="F49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059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D2940"/>
                </a:solidFill>
              </a:rPr>
              <a:t>0.770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7909560" y="2587752"/>
            <a:ext cx="33101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6448" y="27980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Receptor engagement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75320" y="316382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MOL00484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14 residui contattati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ligand contact fraction = 1.00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58200" y="4087368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13064" y="4151376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severe clash = False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DiffDock confidence e pose_support_score sono segnali strutturali/modello, non stime di ΔG.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09f — Vina local rescoring e refinement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Secondo criterio energetico senza nuovo global docking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7A8E"/>
                </a:solidFill>
              </a:rPr>
              <a:t>Vina score: prima → dopo local optimization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6812280" cy="0"/>
          </a:xfrm>
          <a:prstGeom prst="line">
            <a:avLst/>
          </a:prstGeom>
          <a:noFill/>
          <a:ln w="12700">
            <a:solidFill>
              <a:srgbClr val="B6C0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0540"/>
            <a:ext cx="6812280" cy="0"/>
          </a:xfrm>
          <a:prstGeom prst="line">
            <a:avLst/>
          </a:prstGeom>
          <a:noFill/>
          <a:ln w="8890">
            <a:solidFill>
              <a:srgbClr val="E2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891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7A8E"/>
                </a:solidFill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68680" y="2501900"/>
            <a:ext cx="6812280" cy="0"/>
          </a:xfrm>
          <a:prstGeom prst="line">
            <a:avLst/>
          </a:prstGeom>
          <a:noFill/>
          <a:ln w="8890">
            <a:solidFill>
              <a:srgbClr val="E2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4104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7A8E"/>
                </a:solidFill>
              </a:rPr>
              <a:t>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3223260"/>
            <a:ext cx="6812280" cy="0"/>
          </a:xfrm>
          <a:prstGeom prst="line">
            <a:avLst/>
          </a:prstGeom>
          <a:noFill/>
          <a:ln w="8890">
            <a:solidFill>
              <a:srgbClr val="E2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1318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7A8E"/>
                </a:solidFill>
              </a:rPr>
              <a:t>-2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68680" y="3944620"/>
            <a:ext cx="6812280" cy="0"/>
          </a:xfrm>
          <a:prstGeom prst="line">
            <a:avLst/>
          </a:prstGeom>
          <a:noFill/>
          <a:ln w="8890">
            <a:solidFill>
              <a:srgbClr val="E2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8531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7A8E"/>
                </a:solidFill>
              </a:rPr>
              <a:t>-4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68680" y="4665980"/>
            <a:ext cx="6812280" cy="0"/>
          </a:xfrm>
          <a:prstGeom prst="line">
            <a:avLst/>
          </a:prstGeom>
          <a:noFill/>
          <a:ln w="8890">
            <a:solidFill>
              <a:srgbClr val="E2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45745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7A8E"/>
                </a:solidFill>
              </a:rPr>
              <a:t>-6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371600" y="1781261"/>
            <a:ext cx="292608" cy="720639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55648" y="2501900"/>
            <a:ext cx="292608" cy="2088698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651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D2940"/>
                </a:solidFill>
              </a:rPr>
              <a:t>MOL00600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971800" y="2363399"/>
            <a:ext cx="292608" cy="138501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2501900"/>
            <a:ext cx="292608" cy="1555974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49651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D2940"/>
                </a:solidFill>
              </a:rPr>
              <a:t>MOL00583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572000" y="2501900"/>
            <a:ext cx="292608" cy="200538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2501900"/>
            <a:ext cx="292608" cy="1539022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49651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D2940"/>
                </a:solidFill>
              </a:rPr>
              <a:t>MOL00484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172200" y="2501900"/>
            <a:ext cx="292608" cy="1075548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6248" y="2501900"/>
            <a:ext cx="292608" cy="1419997"/>
          </a:xfrm>
          <a:prstGeom prst="rect">
            <a:avLst/>
          </a:prstGeom>
          <a:solidFill>
            <a:srgbClr val="20B8A5"/>
          </a:solidFill>
          <a:ln w="12700">
            <a:solidFill>
              <a:srgbClr val="20B8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9651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D2940"/>
                </a:solidFill>
              </a:rPr>
              <a:t>MOL00273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14400" y="53035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536752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prima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2221992" y="53035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76856" y="536752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dopo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8092440" y="148132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16824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MOL00600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miglior Vina: -5.791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RMSD locale 0.190 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92440" y="27432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29443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MOL00484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2104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geometria più stabile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RMSD locale 0.057 Å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92440" y="400507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206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MOL00583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44622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supporto bilanciato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2940"/>
                </a:solidFill>
              </a:rPr>
              <a:t>Vina -4.314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09f usa Vina come rescoring empirico locale: non è MM-GBSA/MM-PBSA e non misura una binding free energy rigorosa.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09g — Cross-method convergence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 assi indipendenti, nessun binding score artificiale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" y="11430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F7A8E"/>
                </a:solidFill>
              </a:rPr>
              <a:t>rank 1 = migliore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749808" y="16002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D2940"/>
                </a:solidFill>
              </a:rPr>
              <a:t>Pharmacophore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B87A"/>
                </a:solidFill>
              </a:rPr>
              <a:t>MOL00583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310128" y="153619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16184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9A3E"/>
                </a:solidFill>
              </a:rPr>
              <a:t>MOL00484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230368" y="153619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6184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1887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B8A5"/>
                </a:solidFill>
              </a:rPr>
              <a:t>MOL00600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150608" y="153619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16184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0" y="11887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C8FDB"/>
                </a:solidFill>
              </a:rPr>
              <a:t>MOL00273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070848" y="153619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16184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2221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D2940"/>
                </a:solidFill>
              </a:rPr>
              <a:t>Chemistry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310128" y="2157984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2402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30368" y="2157984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2402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0608" y="2157984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22402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70848" y="2157984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0848" y="22402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28437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D2940"/>
                </a:solidFill>
              </a:rPr>
              <a:t>DiffDock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310128" y="277977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8620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30368" y="277977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8620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50608" y="277977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28620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70848" y="2779776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0848" y="286207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" y="34655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D2940"/>
                </a:solidFill>
              </a:rPr>
              <a:t>Receptor engagement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3310128" y="340156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48386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30368" y="340156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48386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50608" y="340156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348386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70848" y="340156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70848" y="348386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9808" y="40873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D2940"/>
                </a:solidFill>
              </a:rPr>
              <a:t>Vina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3310128" y="402336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410565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30368" y="402336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410565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3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50608" y="402336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410565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070848" y="402336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0848" y="410565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9808" y="470916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D2940"/>
                </a:solidFill>
              </a:rPr>
              <a:t>Geometry stability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3310128" y="464515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47274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230368" y="464515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0368" y="47274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1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50608" y="464515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0608" y="47274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2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070848" y="464515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1F4F8"/>
          </a:solidFill>
          <a:ln w="10160">
            <a:solidFill>
              <a:srgbClr val="F1F4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0848" y="47274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940"/>
                </a:solidFill>
              </a:rPr>
              <a:t>3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971800" y="5504688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54680" y="56509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D2940"/>
                </a:solidFill>
              </a:rPr>
              <a:t>Top-2 support count:  MOL00583 = 4/6   ·   MOL00484 = 3/6   ·   MOL00600 = 3/6   ·   MOL00273 = 2/6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530352" y="605332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7A8E"/>
                </a:solidFill>
              </a:rPr>
              <a:t>La priorità 09g usa convergenza di rank: gli score grezzi restano separati perché hanno significati fisici diversi.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Candidati prioritizzati finali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integrato farmacoforo + chimica + DiffDock + Vina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0817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1 · MOL00583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TIER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PRIMARY COMPUTATIONAL LEAD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4 / 6 assi top-2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11880" y="129844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8DF"/>
          </a:solidFill>
          <a:ln w="10160">
            <a:solidFill>
              <a:srgbClr val="FFF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40817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2 · MOL00484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21608" y="169164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TIER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chemistry + engagement + geometry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10528" y="129844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BDF4EF"/>
          </a:solidFill>
          <a:ln w="10160">
            <a:solidFill>
              <a:srgbClr val="BDF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40817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3 · MOL00600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0256" y="169164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TIER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best pharmacophore + best Vina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409176" y="1298448"/>
            <a:ext cx="2103120" cy="1115568"/>
          </a:xfrm>
          <a:prstGeom prst="roundRect">
            <a:avLst>
              <a:gd name="adj" fmla="val 6557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140817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940"/>
                </a:solidFill>
              </a:rPr>
              <a:t>4 · MOL00273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18904" y="169164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TIER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D2940"/>
                </a:solidFill>
              </a:rPr>
              <a:t>best DiffDock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9808" y="2999232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940"/>
                </a:solidFill>
              </a:rPr>
              <a:t>Perché MOL00583?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1546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• pharmacophore rank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• DiffDock rank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• receptor engagement rank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• Vina rank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40"/>
                </a:solidFill>
              </a:rPr>
              <a:t>• nessun severe clash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99923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0F0"/>
          </a:solidFill>
          <a:ln w="10160">
            <a:solidFill>
              <a:srgbClr val="FF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6868"/>
                </a:solidFill>
              </a:rPr>
              <a:t>Ma non è un “winner assoluto”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31272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D2940"/>
                </a:solidFill>
              </a:rPr>
              <a:t>MOL00600 domina Vina; MOL00484 domina stabilità/engagement; MOL00273 domina DiffDock. 09g conserva questa discordanza come informazione scientifica.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2940"/>
                </a:solidFill>
              </a:rPr>
              <a:t>Conclusione integrata: MOL00583 ha la convergenza più ampia, mentre gli altri tre restano follow-up ortogonali Pareto-nondominated.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9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Interpretazione e limiti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possiamo dire, e cosa no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77240" y="1170432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E5F9EF"/>
          </a:solidFill>
          <a:ln w="10160">
            <a:solidFill>
              <a:srgbClr val="E5F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48132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87A"/>
                </a:solidFill>
              </a:rPr>
              <a:t>Possiamo dire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1865376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il farmacoforo è derivato da ensemble MD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8 rescue compounds sono CHEM_PASS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DiffDock produce pose confrontabili per tutti gli 8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Vina supporta alcune pose con minima correzione locale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MOL00583 massimizza la convergenza multi-metodo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gli altri finalisti mostrano punti di forza complementari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355080" y="1170432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0F0"/>
          </a:solidFill>
          <a:ln w="10160">
            <a:solidFill>
              <a:srgbClr val="FFF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4813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6868"/>
                </a:solidFill>
              </a:rPr>
              <a:t>Non possiamo dire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865376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REINVENT4 sia stato pharmacophore-conditioned RL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i near-miss siano diventati strict hits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DiffDock confidence sia una affinity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pose_support_score sia una energia fisica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Vina sia MM-GBSA o ΔG rigorosa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MOL00583 sia già un inibitore EGFR validato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D2940"/>
                </a:solidFill>
              </a:rPr>
              <a:t>• che il ranking sostituisca test sperimentali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023360" y="5650992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8224" y="571500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Frase chiave: computational priority ≠ experimental validation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Stato finale della quinta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435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1E3"/>
                </a:solidFill>
              </a:rPr>
              <a:t>Completa con selezione integrata dei lead small-molecule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892808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09a pharmacophore MD</a:t>
            </a:r>
            <a:endParaRPr lang="en-US" sz="830" dirty="0"/>
          </a:p>
        </p:txBody>
      </p:sp>
      <p:sp>
        <p:nvSpPr>
          <p:cNvPr id="6" name="Shape 4"/>
          <p:cNvSpPr/>
          <p:nvPr/>
        </p:nvSpPr>
        <p:spPr>
          <a:xfrm>
            <a:off x="777240" y="2313432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377440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09b model consolidation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777240" y="2798064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862072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09c generation + screen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777240" y="3282696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3346704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09d chemistry rescue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77240" y="3767328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831336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09e DiffDock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77240" y="4251960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4315968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09f Vina local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77240" y="4736592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4800600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D2940"/>
                </a:solidFill>
              </a:rPr>
              <a:t>✓ 09g integrated selection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617720" y="1847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 prioritizzati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267712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5F6"/>
                </a:solidFill>
              </a:rPr>
              <a:t>MOL00583   TIER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E5F6"/>
                </a:solidFill>
              </a:rPr>
              <a:t>MOL00484   TIER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E5F6"/>
                </a:solidFill>
              </a:rPr>
              <a:t>MOL00600   TIER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E5F6"/>
                </a:solidFill>
              </a:rPr>
              <a:t>MOL00273   TIER 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58200" y="184708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DFFAF6"/>
          </a:solidFill>
          <a:ln w="10160">
            <a:solidFill>
              <a:srgbClr val="DFFA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940"/>
                </a:solidFill>
              </a:rPr>
              <a:t>Pipeline 5 COMPLETE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05088" y="2624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2940"/>
                </a:solidFill>
              </a:rPr>
              <a:t>prossimo passo: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D2940"/>
                </a:solidFill>
              </a:rPr>
              <a:t>report finale + presentazione globale PEARL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6062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7BB"/>
                </a:solidFill>
              </a:rPr>
              <a:t>Output finale: priorità computazionale multi-criterio, non binding proof.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PEARL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Pipeline 5</dc:title>
  <dc:subject>PEARL Pipeline 5 — Pharmacophore and Small-Molecule Leads</dc:subject>
  <dc:creator>OpenAI</dc:creator>
  <cp:lastModifiedBy>OpenAI</cp:lastModifiedBy>
  <cp:revision>1</cp:revision>
  <dcterms:created xsi:type="dcterms:W3CDTF">2026-08-18T06:13:12Z</dcterms:created>
  <dcterms:modified xsi:type="dcterms:W3CDTF">2026-08-18T06:13:12Z</dcterms:modified>
</cp:coreProperties>
</file>