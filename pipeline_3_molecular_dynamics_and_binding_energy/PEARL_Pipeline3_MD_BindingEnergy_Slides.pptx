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85800"/>
            <a:ext cx="777240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PEARL Pipeline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353312"/>
            <a:ext cx="8595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  <a:latin typeface="Aptos"/>
              </a:rPr>
              <a:t>Molecular Dynamics · Dynamic interface validation · Endpoint energetics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5486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ptos"/>
              </a:rPr>
              <a:t>EGFR 3NJP · interfaccia B–D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OpenMM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631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RMSD/RMSF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1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33087"/>
            <a:ext cx="530352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Tre sistemi confrontati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F0010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90288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IGERCQYRDLK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0055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CF06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20055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IGERCQYRELR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49823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CF02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449823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IGERSQYRELK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053328"/>
            <a:ext cx="6583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Aptos"/>
              </a:rPr>
              <a:t>Risultati computazionali: validazione dinamica e proxy energetico comparativo.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Cosa è stato completato nella Pipeline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 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production MD per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frame protein-only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B–D persistenti ≥50%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snapshot per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16352"/>
            <a:ext cx="64008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stabilità dinamica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CF02
RMSD 0.901 Å · RMSF 0.737 Å
mean persistence 0.603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512" y="2816352"/>
            <a:ext cx="64008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1104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Più contatti persistenti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CF06
45 contatti persistenti ≥50%
vs 43 per F0010/CF02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2816352"/>
            <a:ext cx="64008" cy="13258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endpoint energetico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CF06
−65.66 ± 6.80 kcal/mol
proxy MM/GBSA-like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Messaggio chiave: statico, dinamico ed energetico non danno lo stesso ranking — e proprio per questo sono complementari.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Mappa dei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Una sequenza lineare: setup → dinamica → hotspot → confronto →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Aptos"/>
              </a:rPr>
              <a:t>07a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OpenMM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preparazione B–D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Aptos"/>
              </a:rPr>
              <a:t>07b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Dimer 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contact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07c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Hotspot +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validazione dinamica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Aptos"/>
              </a:rPr>
              <a:t>07d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3 peptide 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F0010 / CF06 / CF02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Aptos"/>
              </a:rPr>
              <a:t>07e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MM/GBSA-like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49039"/>
            <a:ext cx="47091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3749039"/>
            <a:ext cx="64008" cy="10241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886200"/>
            <a:ext cx="44348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07c non rilancia la simulazione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224527"/>
            <a:ext cx="4416552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Integra i contatti persistenti di 07b con gli hotspot FoldX già ottenuti nelle pipeline precedenti.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749039"/>
            <a:ext cx="47091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749039"/>
            <a:ext cx="64008" cy="10241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3886200"/>
            <a:ext cx="44348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07e usa le traiettorie di 07d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4224527"/>
            <a:ext cx="4416552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L’energia è valutata su snapshot della stessa traiettoria: single-trajectory endpoint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07a–07b — Dalla struttura alla dinamica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OpenMM esplicito-solvente e persistenza dell’interfaccia B–D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AMBER
ff14SB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016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TIP3P
0.15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9744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300 K
1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 fs
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 ns
500 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B–D unici osservati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persistenti ≥50% dei frame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07608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4.5 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8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cutoff heavy-atom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B–D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interfaccia seguita nel tempo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Interpretazione: l’interfaccia B–D mantiene una rete di contatti persistenti durante il prototipo MD da 1 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07c — Validazione dinamica di F0010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Convergenza tra contatti statici, hotspot FoldX e persistenza 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201168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F0010 · 11 aa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5024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22576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3904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1456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85232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7900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2432304"/>
            <a:ext cx="5532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verde = supporto FoldX + MD · blu = supporto MD-persistent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444752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563624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11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975104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posizioni F0010 in contatti persistenti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9952" y="1444752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1563624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975104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hotspot FoldX + MD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834640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2953512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364992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B–F0010 persistenti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9952" y="2834640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59952" y="2834640"/>
            <a:ext cx="64008" cy="1051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2971800"/>
            <a:ext cx="1481328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Residui concordanti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3310128"/>
            <a:ext cx="1463039" cy="4846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G39 · R41 · Q43
Y44 · R45 · L47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3273552"/>
            <a:ext cx="51663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3273552"/>
            <a:ext cx="64008" cy="117043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3410712"/>
            <a:ext cx="48920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Perché è importante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3749039"/>
            <a:ext cx="4873752" cy="6035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F0010 non è solo un frammento corto scelto staticamente: tutte le sue posizioni rimangono coinvolte nell’interfaccia dinamica e 6 sono supportate anche dall’alanine scanning FoldX.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Aptos"/>
              </a:rPr>
              <a:t>È convergenza computazionale, non validazione biologica sperimentale.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07d — MD comparativa dei tre peptidi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F0010 vs CF06 vs CF02 · stesso protocollo da 1 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004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Stabilità conformazionale · più basso = meglio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1828800"/>
            <a:ext cx="1125291" cy="16459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76479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0.901 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48256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09397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2093976"/>
            <a:ext cx="1509564" cy="16459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2029968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0.737 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65176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2651760"/>
            <a:ext cx="1614875" cy="16459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58775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1.293 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71215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291693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2916936"/>
            <a:ext cx="1851623" cy="16459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2852928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0.904 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43814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F0010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347472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54480" y="3474720"/>
            <a:ext cx="2455409" cy="1645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341071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1.966 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694176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373989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54480" y="3739896"/>
            <a:ext cx="2384169" cy="1645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675887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1.164 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43984"/>
            <a:ext cx="11430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72033"/>
                </a:solidFill>
                <a:latin typeface="Aptos"/>
              </a:rPr>
              <a:t>RMSD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443984"/>
            <a:ext cx="11430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RMSF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1481328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1600200"/>
            <a:ext cx="160934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2011680"/>
            <a:ext cx="160934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CF02 contatti ≥50%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8" y="1481328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1600200"/>
            <a:ext cx="160934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2011680"/>
            <a:ext cx="160934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CF06 contatti ≥50%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1481328"/>
            <a:ext cx="141732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1600200"/>
            <a:ext cx="119786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984" y="2011680"/>
            <a:ext cx="119786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F0010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2834640"/>
            <a:ext cx="2514600" cy="112471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7880" y="2834640"/>
            <a:ext cx="64008" cy="11247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2971800"/>
            <a:ext cx="2240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2472" y="3310128"/>
            <a:ext cx="2221992" cy="5577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RMSD e RMSF più bassi
Mean persistence = 0.603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2834640"/>
            <a:ext cx="2514600" cy="1124712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32520" y="2834640"/>
            <a:ext cx="64008" cy="112471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97112" y="2971800"/>
            <a:ext cx="2240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7112" y="3310128"/>
            <a:ext cx="2221992" cy="5577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Più contatti persistenti
Mean persistence = 0.529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Risultato chiave: CF02 è il più stabile dinamicamente; CF06 conserva la rete di contatti più numerosa.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07e — Endpoint energetic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50 snapshot · single-trajectory MM/GBSA-like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4572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 Mono"/>
              </a:rPr>
              <a:t>ΔEendpoint = Ecomplex − Ereceptor − Epeptide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09928"/>
            <a:ext cx="45720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più negativo = più favorevole nel protocollo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2331720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83080" y="2331720"/>
            <a:ext cx="3945453" cy="27432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2295144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-65.66 ± 6.80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35808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F0010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3081527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83080" y="3081527"/>
            <a:ext cx="3572900" cy="27432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044951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-59.46 ± 5.96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85615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831335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3080" y="3831335"/>
            <a:ext cx="3402247" cy="2743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794759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-56.62 ± 4.63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417320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1417320"/>
            <a:ext cx="64008" cy="129844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554480"/>
            <a:ext cx="297180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endpoint: CF06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1892808"/>
            <a:ext cx="2953512" cy="73151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−65.66 ± 6.80 kcal/mol
Il ranking energetico non coincide con quello RMSD/RMSF.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044952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044952"/>
            <a:ext cx="64008" cy="129844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3182112"/>
            <a:ext cx="297180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Interpretazione corretta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520440"/>
            <a:ext cx="2953512" cy="73151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Proxy energetico comparativo.
Non è una ΔGbind rigorosa e non produce direttamente Kd/Ki.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8B5CF6"/>
                </a:solidFill>
                <a:latin typeface="Aptos"/>
              </a:rPr>
              <a:t>Endpoint ranking: CF06 &gt; F0010 &gt; CF02 · dinamica: CF02 &gt; CF06 &gt; F0010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Perché i ranking cambiano?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Ogni metodo misura una componente diversa del comportamento del complesso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64008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27889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CF02 · dinamica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70632" cy="713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RMSD 0.901 Å
RMSF 0.737 Å
Mean persistence 0.603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962656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2656"/>
            <a:ext cx="64008" cy="12801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9816"/>
            <a:ext cx="27889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CF06 · energia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2770632" cy="713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45 contatti persistenti
Endpoint −65.66 kcal/mol
migliore proxy energetico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353312"/>
            <a:ext cx="2103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Tre domande diverse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901952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993392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ptos"/>
              </a:rPr>
              <a:t>FoldX / Rosetta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È favorevole staticamente?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743200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834640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4B8A6"/>
                </a:solidFill>
                <a:latin typeface="Aptos"/>
              </a:rPr>
              <a:t>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34640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Rimane stabile nel tempo?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584448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675887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Aptos"/>
              </a:rPr>
              <a:t>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675887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È energeticamente favorevole?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353312"/>
            <a:ext cx="3520440" cy="2889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353312"/>
            <a:ext cx="64008" cy="288950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1490472"/>
            <a:ext cx="32461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Conclusione integrata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1828800"/>
            <a:ext cx="3227832" cy="23225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Non c’è contraddizione.
CF02 è il lead dinamicamente più rigido.
CF06 è il lead energeticamente più favorevole nel proxy 07e.
Conviene mantenere entrambi come lead computazionali.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0B981"/>
                </a:solidFill>
                <a:latin typeface="Aptos"/>
              </a:rPr>
              <a:t>La forza della Pipeline 3 è proprio la validazione multilivello, non un singolo numero finale.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Dove siamo rispetto all’“affinità”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Il 07e è già nella direzione suggerita, ma non è ancora una vera affinità assoluta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716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64008" cy="24231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526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Quello che abbiamo già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507992" cy="1856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MD esplicita su complessi peptide–EGFR
• 50 snapshot per candidato
• single-trajectory endpoint energy
• confronto relativo F0010 / CF06 / CF02
• ranking energetico computazionale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716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371600"/>
            <a:ext cx="64008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508760"/>
            <a:ext cx="4526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Quello che manca per una stima più forte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847088"/>
            <a:ext cx="4507992" cy="1856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traiettorie più lunghe / repliche
• convergenza formale
• entropia o protocollo free-energy più completo
• eventuale calibrazione su dati sperimentali
• ΔGbind / Kd interpretabili quantitativamente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2563EB"/>
                </a:solidFill>
                <a:latin typeface="Aptos"/>
              </a:rPr>
              <a:t>Frase da usare col Prof.: «Ho già aggiunto MD + endpoint energetico; vorrei capire se conviene ora rendere più rigorosa la parte free-energy.»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Interpretazione e 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Cosa possiamo dire — e cosa non ancora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4983480" cy="30449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64008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08760"/>
            <a:ext cx="470916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Possiamo dire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4690872" cy="24780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la rete B–D è dinamicamente persistente nel prototipo 1 ns
• F0010 rimane coinvolto nell’interfaccia dinamica
• CF02 è il più stabile per RMSD/RMSF/persistence
• CF06 mantiene più contatti persistenti
• CF06 ha il miglior endpoint-energy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4983480" cy="3044952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64008" cy="30449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508760"/>
            <a:ext cx="470916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Non possiamo dire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847088"/>
            <a:ext cx="4690872" cy="24780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non è validazione sperimentale
• 1 ns non dimostra convergenza completa
• il proxy 07e non è ΔGbind rigorosa
• non possiamo ricavare direttamente Kd/Ki/IC50
• force field e starting pose influenzano i risultati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Aptos"/>
              </a:rPr>
              <a:t>I risultati servono a priorizzare i lead e a decidere dove investire calcolo più costoso.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969264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Stato finale della Pipeline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Completata come validazione dinamica + energetica comparativa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38528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Setup OpenMM B–D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05456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1 ns dimer MD + contact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72384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Hotspot validation dinamica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39312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F0010 / CF06 / CF02 MD comparativa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Endpoint MM/GBSA-like su 50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810512"/>
            <a:ext cx="4983480" cy="22128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993392"/>
            <a:ext cx="44348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Aptos"/>
              </a:rPr>
              <a:t>Lead prioritizzati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87168"/>
            <a:ext cx="443484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523744"/>
            <a:ext cx="30632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best dynamic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063240"/>
            <a:ext cx="443484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099816"/>
            <a:ext cx="30632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best endpoint energy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334256"/>
            <a:ext cx="4983480" cy="1033271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4517136"/>
            <a:ext cx="4498848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Aptos"/>
              </a:rPr>
              <a:t>Prossimo punto da discutere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4846320"/>
            <a:ext cx="449884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Free-energy più rigorosa / affinity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53328"/>
            <a:ext cx="100584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  <a:latin typeface="Aptos"/>
              </a:rPr>
              <a:t>Pipeline 3 chiude il passaggio: struttura → dinamica → energia → priorità dei 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