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85800"/>
            <a:ext cx="7772400" cy="56692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Aptos"/>
              </a:rPr>
              <a:t>PEARL Pipeline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1353312"/>
            <a:ext cx="8595360" cy="38404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  <a:latin typeface="Aptos"/>
              </a:rPr>
              <a:t>Molecular Dynamics · Dynamic interface validation · Endpoint energetics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54864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ptos"/>
              </a:rPr>
              <a:t>EGFR 3NJP · interfaccia B–D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OpenMM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631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34639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27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0600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RMSD/RMSF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59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Contacts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3026664"/>
            <a:ext cx="29260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19" y="2880360"/>
            <a:ext cx="1572768" cy="658368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2519" y="3035808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Endpoint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4133087"/>
            <a:ext cx="530352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Tre riferimenti + follow-up CF05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90288"/>
            <a:ext cx="9601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ED5D0"/>
                </a:solidFill>
                <a:latin typeface="Aptos"/>
              </a:rPr>
              <a:t>F0010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4590288"/>
            <a:ext cx="2743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Mono"/>
              </a:rPr>
              <a:t>IGERCQYRDLK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20055"/>
            <a:ext cx="9601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ED5D0"/>
                </a:solidFill>
                <a:latin typeface="Aptos"/>
              </a:rPr>
              <a:t>CF06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020055"/>
            <a:ext cx="2743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Mono"/>
              </a:rPr>
              <a:t>IGERCQYRELR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449823"/>
            <a:ext cx="96012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5ED5D0"/>
                </a:solidFill>
                <a:latin typeface="Aptos"/>
              </a:rPr>
              <a:t>CF02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83080" y="5449823"/>
            <a:ext cx="27432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 Mono"/>
              </a:rPr>
              <a:t>IGERSQYRELK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6053328"/>
            <a:ext cx="6583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rPr sz="1200"/>
              <a:t>Risultati computazionali: 07d/07e sui tre riferimenti + 07f production da 1 ns su CF05.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Core 07d/07e completato + follow-up 07f su CF05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1 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production MD per sistema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55848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55848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frame protein-only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4728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0B981"/>
                </a:solidFill>
                <a:latin typeface="Aptos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contatti B–D persistenti ≥50%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417320"/>
            <a:ext cx="205740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7" y="1536192"/>
            <a:ext cx="1837943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59E0B"/>
                </a:solidFill>
                <a:latin typeface="Aptos"/>
              </a:rPr>
              <a:t>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7" y="1947672"/>
            <a:ext cx="1837943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snapshot per endpoint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816352"/>
            <a:ext cx="2999232" cy="132588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816352"/>
            <a:ext cx="64008" cy="13258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2953512"/>
            <a:ext cx="2724912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Migliore stabilità dinamica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3291840"/>
            <a:ext cx="2706624" cy="7589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CF02
RMSD 0.901 Å · RMSF 0.737 Å
mean persistence 0.603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6512" y="2816352"/>
            <a:ext cx="2999232" cy="132588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96512" y="2816352"/>
            <a:ext cx="64008" cy="132588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61104" y="2953512"/>
            <a:ext cx="2724912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Più contatti persistenti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61104" y="3291840"/>
            <a:ext cx="2706624" cy="7589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CF06
45 contatti persistenti ≥50%
vs 43 per F0010/CF02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2816352"/>
            <a:ext cx="2999232" cy="132588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06640" y="2816352"/>
            <a:ext cx="64008" cy="1325880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71231" y="2953512"/>
            <a:ext cx="2724912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Migliore endpoint energetico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71231" y="3291840"/>
            <a:ext cx="2706624" cy="75895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CF06
−65.66 ± 6.80 kcal/mol
proxy MM/GBSA-like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r>
              <a:rPr sz="1300"/>
              <a:t>Messaggio chiave: il follow-up 07f conferma che i ranking restano metodo-specifici — CF02 domina la dinamica, CF06 l’endpoint, mentre CF05 non è confermato dalla production da 1 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Mappa dei 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Una sequenza lineare: setup → dinamica → hotspot → confronto →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Aptos"/>
              </a:rPr>
              <a:t>07a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1615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OpenMM setup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preparazione B–D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2432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4B8A6"/>
                </a:solidFill>
                <a:latin typeface="Aptos"/>
              </a:rPr>
              <a:t>07b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Dimer 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9067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contact persistence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460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7608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Aptos"/>
              </a:rPr>
              <a:t>07c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9671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Hotspot + MD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095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validazione dinamica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0488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Aptos"/>
              </a:rPr>
              <a:t>07d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3699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3 peptide MD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7123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F0010 / CF06 / CF02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249424"/>
            <a:ext cx="301752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8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46920" y="1901952"/>
            <a:ext cx="1920240" cy="1051560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2029968"/>
            <a:ext cx="43891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  <a:latin typeface="Aptos"/>
              </a:rPr>
              <a:t>07e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77272" y="2002536"/>
            <a:ext cx="12344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Endpoint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11512" y="2414016"/>
            <a:ext cx="1572768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969" b="0" i="0">
                <a:solidFill>
                  <a:srgbClr val="64748B"/>
                </a:solidFill>
                <a:latin typeface="Aptos"/>
              </a:rPr>
              <a:t>MM/GBSA-like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" y="3749039"/>
            <a:ext cx="47091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3749039"/>
            <a:ext cx="64008" cy="102412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3886200"/>
            <a:ext cx="443484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07c non rilancia la simulazione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" y="4224527"/>
            <a:ext cx="4416552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Integra i contatti persistenti di 07b con gli hotspot FoldX già ottenuti nelle pipeline precedenti.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35040" y="3749039"/>
            <a:ext cx="4709160" cy="10241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3749039"/>
            <a:ext cx="64008" cy="102412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9631" y="3886200"/>
            <a:ext cx="443484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07e usa le traiettorie di 07d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99631" y="4224527"/>
            <a:ext cx="4416552" cy="4572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L’energia è valutata su snapshot della stessa traiettoria: single-trajectory endpoint comparison.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07a–07b — Dalla struttura alla dinamica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OpenMM esplicito-solvente e persistenza dell’interfaccia B–D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AMBER
ff14SB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14016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79776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79776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TIP3P
0.15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9744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300 K
1 bar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39712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9712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2 fs
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1600200"/>
            <a:ext cx="256032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1389888"/>
            <a:ext cx="1627632" cy="694944"/>
          </a:xfrm>
          <a:prstGeom prst="roundRect">
            <a:avLst>
              <a:gd name="adj" fmla="val 12000"/>
            </a:avLst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1517904"/>
            <a:ext cx="1627632" cy="365760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1 ns
500 frame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147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contatti B–D unici osservati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64992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0B981"/>
                </a:solidFill>
                <a:latin typeface="Aptos"/>
              </a:rPr>
              <a:t>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persistenti ≥50% dei frame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07608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59E0B"/>
                </a:solidFill>
                <a:latin typeface="Aptos"/>
              </a:rPr>
              <a:t>4.5 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07608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cutoff heavy-atom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30768" y="2788920"/>
            <a:ext cx="214884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6" y="2907791"/>
            <a:ext cx="192938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B–D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0496" y="3319272"/>
            <a:ext cx="192938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interfaccia seguita nel tempo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72033"/>
                </a:solidFill>
                <a:latin typeface="Aptos"/>
              </a:rPr>
              <a:t>Interpretazione: l’interfaccia B–D mantiene una rete di contatti persistenti durante il prototipo MD da 1 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07c — Validazione dinamica di F0010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Convergenza tra contatti statici, hotspot FoldX e persistenza MD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89888"/>
            <a:ext cx="201168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F0010 · 11 aa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5024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4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22576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22576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16352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16352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10128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10128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Q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03904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3904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1456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91456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85232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85232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Aptos"/>
              </a:rPr>
              <a:t>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1828800"/>
            <a:ext cx="384048" cy="47548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79008" y="1938528"/>
            <a:ext cx="384048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200" b="1" i="0">
                <a:solidFill>
                  <a:srgbClr val="2563EB"/>
                </a:solidFill>
                <a:latin typeface="Aptos"/>
              </a:rPr>
              <a:t>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2432304"/>
            <a:ext cx="55321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verde = supporto FoldX + MD · blu = supporto MD-persistent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20840" y="1444752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1563624"/>
            <a:ext cx="153619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11 / 11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30568" y="1975104"/>
            <a:ext cx="153619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posizioni F0010 in contatti persistenti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759952" y="1444752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1563624"/>
            <a:ext cx="153619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0B981"/>
                </a:solidFill>
                <a:latin typeface="Aptos"/>
              </a:rPr>
              <a:t>6 / 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1975104"/>
            <a:ext cx="153619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hotspot FoldX + MD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834640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30568" y="2953512"/>
            <a:ext cx="1536192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32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30568" y="3364992"/>
            <a:ext cx="1536192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contatti B–F0010 persistenti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59952" y="2834640"/>
            <a:ext cx="1755648" cy="105156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59952" y="2834640"/>
            <a:ext cx="64008" cy="10515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24544" y="2971800"/>
            <a:ext cx="1481328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Residui concordanti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24544" y="3310128"/>
            <a:ext cx="1463039" cy="4846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G39 · R41 · Q43
Y44 · R45 · L47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3273552"/>
            <a:ext cx="516636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2960" y="3273552"/>
            <a:ext cx="64008" cy="117043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87552" y="3410712"/>
            <a:ext cx="489204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Perché è importante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" y="3749039"/>
            <a:ext cx="4873752" cy="60350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F0010 non è solo un frammento corto scelto staticamente: tutte le sue posizioni rimangono coinvolte nell’interfaccia dinamica e 6 sono supportate anche dall’alanine scanning FoldX.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59E0B"/>
                </a:solidFill>
                <a:latin typeface="Aptos"/>
              </a:rPr>
              <a:t>È convergenza computazionale, non validazione biologica sperimentale.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07d — MD comparativa dei tre peptidi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F0010 vs CF06 vs CF02 · stesso protocollo da 1 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325880"/>
            <a:ext cx="32004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200" b="1" i="0">
                <a:solidFill>
                  <a:srgbClr val="172033"/>
                </a:solidFill>
                <a:latin typeface="Aptos"/>
              </a:rPr>
              <a:t>Stabilità conformazionale · più basso = meglio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92224"/>
            <a:ext cx="7772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Aptos"/>
              </a:rPr>
              <a:t>CF02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54480" y="1828800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554480" y="1828800"/>
            <a:ext cx="1125291" cy="16459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7952" y="1764792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 i="0">
                <a:solidFill>
                  <a:srgbClr val="172033"/>
                </a:solidFill>
                <a:latin typeface="Aptos"/>
              </a:rPr>
              <a:t>0.901 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48256"/>
            <a:ext cx="2560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54480" y="2093976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554480" y="2093976"/>
            <a:ext cx="1509564" cy="164592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2029968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ptos"/>
              </a:rPr>
              <a:t>0.737 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15184"/>
            <a:ext cx="7772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Aptos"/>
              </a:rPr>
              <a:t>CF06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2651760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54480" y="2651760"/>
            <a:ext cx="1614875" cy="16459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87952" y="2587752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 i="0">
                <a:solidFill>
                  <a:srgbClr val="172033"/>
                </a:solidFill>
                <a:latin typeface="Aptos"/>
              </a:rPr>
              <a:t>1.293 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871215"/>
            <a:ext cx="2560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554480" y="2916936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554480" y="2916936"/>
            <a:ext cx="1851623" cy="164592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87952" y="2852928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ptos"/>
              </a:rPr>
              <a:t>0.904 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438144"/>
            <a:ext cx="7772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1" i="0">
                <a:solidFill>
                  <a:srgbClr val="172033"/>
                </a:solidFill>
                <a:latin typeface="Aptos"/>
              </a:rPr>
              <a:t>F0010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554480" y="3474720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554480" y="3474720"/>
            <a:ext cx="2455409" cy="16459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87952" y="3410712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1" i="0">
                <a:solidFill>
                  <a:srgbClr val="172033"/>
                </a:solidFill>
                <a:latin typeface="Aptos"/>
              </a:rPr>
              <a:t>1.966 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694176"/>
            <a:ext cx="2560320" cy="16459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00" b="0" i="0">
                <a:solidFill>
                  <a:srgbClr val="172033"/>
                </a:solidFill>
                <a:latin typeface="Aptos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54480" y="3739896"/>
            <a:ext cx="2560320" cy="164592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554480" y="3739896"/>
            <a:ext cx="2384169" cy="164592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87952" y="3675887"/>
            <a:ext cx="6400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Aptos"/>
              </a:rPr>
              <a:t>1.164 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443984"/>
            <a:ext cx="11430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172033"/>
                </a:solidFill>
                <a:latin typeface="Aptos"/>
              </a:rPr>
              <a:t>RMSD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4443984"/>
            <a:ext cx="11430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1" i="0">
                <a:solidFill>
                  <a:srgbClr val="64748B"/>
                </a:solidFill>
                <a:latin typeface="Aptos"/>
              </a:rPr>
              <a:t>RMSF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1481328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7608" y="1600200"/>
            <a:ext cx="160934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2563EB"/>
                </a:solidFill>
                <a:latin typeface="Aptos"/>
              </a:rPr>
              <a:t>43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07608" y="2011680"/>
            <a:ext cx="160934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CF02 contatti ≥50%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973568" y="1481328"/>
            <a:ext cx="1828800" cy="10515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83296" y="1600200"/>
            <a:ext cx="160934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14B8A6"/>
                </a:solidFill>
                <a:latin typeface="Aptos"/>
              </a:rPr>
              <a:t>45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83296" y="2011680"/>
            <a:ext cx="160934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CF06 contatti ≥50%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49256" y="1481328"/>
            <a:ext cx="1417320" cy="10515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58984" y="1600200"/>
            <a:ext cx="1197864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2300" b="1" i="0">
                <a:solidFill>
                  <a:srgbClr val="F59E0B"/>
                </a:solidFill>
                <a:latin typeface="Aptos"/>
              </a:rPr>
              <a:t>43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58984" y="2011680"/>
            <a:ext cx="1197864" cy="38404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050" b="0" i="0">
                <a:solidFill>
                  <a:srgbClr val="64748B"/>
                </a:solidFill>
                <a:latin typeface="Aptos"/>
              </a:rPr>
              <a:t>F0010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897880" y="2834640"/>
            <a:ext cx="2514600" cy="1124712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897880" y="2834640"/>
            <a:ext cx="64008" cy="112471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62472" y="2971800"/>
            <a:ext cx="2240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62472" y="3310128"/>
            <a:ext cx="2221992" cy="5577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RMSD e RMSF più bassi
Mean persistence = 0.603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732520" y="2834640"/>
            <a:ext cx="2514600" cy="1124712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732520" y="2834640"/>
            <a:ext cx="64008" cy="1124712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97112" y="2971800"/>
            <a:ext cx="2240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897112" y="3310128"/>
            <a:ext cx="2221992" cy="5577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Più contatti persistenti
Mean persistence = 0.529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172033"/>
                </a:solidFill>
                <a:latin typeface="Aptos"/>
              </a:rPr>
              <a:t>Risultato chiave: CF02 è il più stabile dinamicamente; CF06 conserva la rete di contatti più numerosa.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07e — Endpoint energetic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50 snapshot · single-trajectory MM/GBSA-like proxy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325880"/>
            <a:ext cx="45720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 Mono"/>
              </a:rPr>
              <a:t>ΔEendpoint = Ecomplex − Ereceptor − Epeptide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709928"/>
            <a:ext cx="457200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0" i="0">
                <a:solidFill>
                  <a:srgbClr val="64748B"/>
                </a:solidFill>
                <a:latin typeface="Aptos"/>
              </a:rPr>
              <a:t>più negativo = più favorevole nel protocollo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286000"/>
            <a:ext cx="868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ptos"/>
              </a:rPr>
              <a:t>CF06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783080" y="2331720"/>
            <a:ext cx="4206240" cy="27432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783080" y="2331720"/>
            <a:ext cx="3945453" cy="274320"/>
          </a:xfrm>
          <a:prstGeom prst="roundRect">
            <a:avLst>
              <a:gd name="adj" fmla="val 12000"/>
            </a:avLst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2295144"/>
            <a:ext cx="1508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72033"/>
                </a:solidFill>
                <a:latin typeface="Aptos"/>
              </a:rPr>
              <a:t>-65.66 ± 6.80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35808"/>
            <a:ext cx="868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ptos"/>
              </a:rPr>
              <a:t>F0010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3081527"/>
            <a:ext cx="4206240" cy="27432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83080" y="3081527"/>
            <a:ext cx="3572900" cy="274320"/>
          </a:xfrm>
          <a:prstGeom prst="roundRect">
            <a:avLst>
              <a:gd name="adj" fmla="val 12000"/>
            </a:avLst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3044951"/>
            <a:ext cx="1508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72033"/>
                </a:solidFill>
                <a:latin typeface="Aptos"/>
              </a:rPr>
              <a:t>-59.46 ± 5.96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785615"/>
            <a:ext cx="868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00" b="1" i="0">
                <a:solidFill>
                  <a:srgbClr val="172033"/>
                </a:solidFill>
                <a:latin typeface="Aptos"/>
              </a:rPr>
              <a:t>CF02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831335"/>
            <a:ext cx="4206240" cy="274320"/>
          </a:xfrm>
          <a:prstGeom prst="roundRect">
            <a:avLst>
              <a:gd name="adj" fmla="val 12000"/>
            </a:avLst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783080" y="3831335"/>
            <a:ext cx="3402247" cy="27432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794759"/>
            <a:ext cx="15087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/>
            <a:r>
              <a:rPr sz="1100" b="1" i="0">
                <a:solidFill>
                  <a:srgbClr val="172033"/>
                </a:solidFill>
                <a:latin typeface="Aptos"/>
              </a:rPr>
              <a:t>-56.62 ± 4.63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55279" y="1417320"/>
            <a:ext cx="3246120" cy="1298448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55279" y="1417320"/>
            <a:ext cx="64008" cy="1298448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554480"/>
            <a:ext cx="297180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Migliore endpoint: CF06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1892808"/>
            <a:ext cx="2953512" cy="73151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−65.66 ± 6.80 kcal/mol
Il ranking energetico non coincide con quello RMSD/RMSF.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55279" y="3044952"/>
            <a:ext cx="3246120" cy="1298448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044952"/>
            <a:ext cx="64008" cy="1298448"/>
          </a:xfrm>
          <a:prstGeom prst="rect">
            <a:avLst/>
          </a:prstGeom>
          <a:solidFill>
            <a:srgbClr val="8B5CF6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19871" y="3182112"/>
            <a:ext cx="297180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Interpretazione corretta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19871" y="3520440"/>
            <a:ext cx="2953512" cy="731519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Proxy energetico comparativo.
Non è una ΔGbind rigorosa e non produce direttamente Kd/Ki.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8B5CF6"/>
                </a:solidFill>
                <a:latin typeface="Aptos"/>
              </a:rPr>
              <a:t>Endpoint ranking: CF06 &gt; F0010 &gt; CF02 · dinamica: CF02 &gt; CF06 &gt; F0010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Perché i ranking cambiano?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Ogni metodo misura una componente diversa del comportamento del complesso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53312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53312"/>
            <a:ext cx="64008" cy="128016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90472"/>
            <a:ext cx="278892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CF02 · dinamica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770632" cy="713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RMSD 0.901 Å
RMSF 0.737 Å
Mean persistence 0.603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2962656"/>
            <a:ext cx="3063240" cy="12801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2962656"/>
            <a:ext cx="64008" cy="12801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99816"/>
            <a:ext cx="278892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CF06 · energia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38144"/>
            <a:ext cx="2770632" cy="713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45 contatti persistenti
Endpoint −65.66 kcal/mol
migliore proxy energetico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353312"/>
            <a:ext cx="2103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/>
            <a:r>
              <a:rPr sz="1500" b="1" i="0">
                <a:solidFill>
                  <a:srgbClr val="172033"/>
                </a:solidFill>
                <a:latin typeface="Aptos"/>
              </a:rPr>
              <a:t>Tre domande diverse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4528" y="1901952"/>
            <a:ext cx="28346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0832" y="1993392"/>
            <a:ext cx="1143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  <a:latin typeface="Aptos"/>
              </a:rPr>
              <a:t>FoldX / Rosetta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1993392"/>
            <a:ext cx="13258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È favorevole staticamente?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24528" y="2743200"/>
            <a:ext cx="28346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70832" y="2834640"/>
            <a:ext cx="1143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14B8A6"/>
                </a:solidFill>
                <a:latin typeface="Aptos"/>
              </a:rPr>
              <a:t>MD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834640"/>
            <a:ext cx="13258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Rimane stabile nel tempo?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24528" y="3584448"/>
            <a:ext cx="2834640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70832" y="3675887"/>
            <a:ext cx="1143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050" b="1" i="0">
                <a:solidFill>
                  <a:srgbClr val="8B5CF6"/>
                </a:solidFill>
                <a:latin typeface="Aptos"/>
              </a:rPr>
              <a:t>Endpoint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675887"/>
            <a:ext cx="132588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50" b="0" i="0">
                <a:solidFill>
                  <a:srgbClr val="64748B"/>
                </a:solidFill>
                <a:latin typeface="Aptos"/>
              </a:rPr>
              <a:t>È energeticamente favorevole?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353312"/>
            <a:ext cx="3520440" cy="288950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98079" y="1353312"/>
            <a:ext cx="64008" cy="2889504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1" y="1490472"/>
            <a:ext cx="324612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Conclusione integrata dopo 07f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1" y="1828800"/>
            <a:ext cx="3227832" cy="232257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rPr sz="1600"/>
              <a:t>Non c’è un unico vincitore.</a:t>
            </a:r>
          </a:p>
          <a:p/>
          <a:p>
            <a:r>
              <a:rPr sz="1600"/>
              <a:t>CF02 = migliore stabilità dinamica.</a:t>
            </a:r>
          </a:p>
          <a:p/>
          <a:p>
            <a:r>
              <a:rPr sz="1600"/>
              <a:t>CF06 = migliore Rosetta + endpoint energetico.</a:t>
            </a:r>
          </a:p>
          <a:p/>
          <a:p>
            <a:r>
              <a:rPr sz="1600"/>
              <a:t>CF05 = migliore pair score, ma non confermato dalla production MD/endpoint.</a:t>
            </a:r>
          </a:p>
          <a:p/>
          <a:p>
            <a:r>
              <a:rPr sz="1600"/>
              <a:t>Lead principali da mantenere: CF02 + CF06.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DCFC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r>
              <a:rPr sz="1300"/>
              <a:t>La forza della Pipeline 3 è la validazione multilivello: un buon surrogato locale deve essere verificato con metodi strutturali, dinamici ed energetici indipendenti.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Dove siamo rispetto all’“affinità”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Il 07e è già nella direzione suggerita, ma non è ancora una vera affinità assoluta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371600"/>
            <a:ext cx="4800600" cy="242316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1371600"/>
            <a:ext cx="64008" cy="2423160"/>
          </a:xfrm>
          <a:prstGeom prst="rect">
            <a:avLst/>
          </a:prstGeom>
          <a:solidFill>
            <a:srgbClr val="14B8A6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4526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Quello che abbiamo già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47088"/>
            <a:ext cx="4507992" cy="1856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• MD esplicita su complessi peptide–EGFR
• 50 snapshot per candidato
• single-trajectory endpoint energy
• confronto relativo F0010 / CF06 / CF02
• ranking energetico computazionale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371600"/>
            <a:ext cx="4800600" cy="2423160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371600"/>
            <a:ext cx="64008" cy="2423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53912" y="1508760"/>
            <a:ext cx="452628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Quello che manca per una stima più forte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53912" y="1847088"/>
            <a:ext cx="4507992" cy="1856231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120" b="0" i="0">
                <a:solidFill>
                  <a:srgbClr val="64748B"/>
                </a:solidFill>
                <a:latin typeface="Aptos"/>
              </a:rPr>
              <a:t>• traiettorie più lunghe / repliche
• convergenza formale
• entropia o protocollo free-energy più completo
• eventuale calibrazione su dati sperimentali
• ΔGbind / Kd interpretabili quantitativamente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2563EB"/>
                </a:solidFill>
                <a:latin typeface="Aptos"/>
              </a:rPr>
              <a:t>Frase da usare col Prof.: «Ho già aggiunto MD + endpoint energetico; vorrei capire se conviene ora rendere più rigorosa la parte free-energy.»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74420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Interpretazione e limiti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04672"/>
            <a:ext cx="1042416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0" i="0">
                <a:solidFill>
                  <a:srgbClr val="64748B"/>
                </a:solidFill>
                <a:latin typeface="Aptos"/>
              </a:rPr>
              <a:t>Cosa possiamo dire — e cosa non ancora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46520"/>
            <a:ext cx="448056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900" b="0" i="0">
                <a:solidFill>
                  <a:srgbClr val="64748B"/>
                </a:solidFill>
                <a:latin typeface="Aptos"/>
              </a:rPr>
              <a:t>Pipeline 3 · PEARL / EGFR 3NJP · slide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4983480" cy="3044952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64008" cy="304495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08760"/>
            <a:ext cx="470916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Possiamo dire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1847088"/>
            <a:ext cx="4690872" cy="24780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rPr sz="1500"/>
              <a:t>• la rete B–D è dinamicamente persistente nel prototipo 1 ns</a:t>
            </a:r>
          </a:p>
          <a:p>
            <a:r>
              <a:rPr sz="1500"/>
              <a:t>• F0010 rimane coinvolto nell’interfaccia dinamica</a:t>
            </a:r>
          </a:p>
          <a:p>
            <a:r>
              <a:rPr sz="1500"/>
              <a:t>• CF02 è il migliore per stabilità MD complessiva</a:t>
            </a:r>
          </a:p>
          <a:p>
            <a:r>
              <a:rPr sz="1500"/>
              <a:t>• CF06 mantiene 45 contatti persistenti ed è il migliore endpoint</a:t>
            </a:r>
          </a:p>
          <a:p>
            <a:r>
              <a:rPr sz="1500"/>
              <a:t>• CF05, pur favorito dal pair score, non è confermato dalla production 1 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44768" y="1371600"/>
            <a:ext cx="4983480" cy="3044952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44768" y="1371600"/>
            <a:ext cx="64008" cy="3044952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508760"/>
            <a:ext cx="4709160" cy="2468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400" b="1" i="0">
                <a:solidFill>
                  <a:srgbClr val="172033"/>
                </a:solidFill>
                <a:latin typeface="Aptos"/>
              </a:rPr>
              <a:t>Non possiamo dire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59" y="1847088"/>
            <a:ext cx="4690872" cy="247802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rPr sz="1500"/>
              <a:t>• non è validazione sperimentale</a:t>
            </a:r>
          </a:p>
          <a:p>
            <a:r>
              <a:rPr sz="1500"/>
              <a:t>• 1 ns non dimostra convergenza completa</a:t>
            </a:r>
          </a:p>
          <a:p>
            <a:r>
              <a:rPr sz="1500"/>
              <a:t>• 07e/07f sono proxy endpoint, non ΔGbind rigorosa</a:t>
            </a:r>
          </a:p>
          <a:p>
            <a:r>
              <a:rPr sz="1500"/>
              <a:t>• non possiamo ricavare direttamente Kd/Ki/IC50</a:t>
            </a:r>
          </a:p>
          <a:p>
            <a:r>
              <a:rPr sz="1500"/>
              <a:t>• force field, starting pose e assenza di repliche influenzano i ranking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138928"/>
            <a:ext cx="10378440" cy="603504"/>
          </a:xfrm>
          <a:prstGeom prst="roundRect">
            <a:avLst>
              <a:gd name="adj" fmla="val 12000"/>
            </a:avLst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5285232"/>
            <a:ext cx="10012680" cy="292608"/>
          </a:xfrm>
          <a:prstGeom prst="rect">
            <a:avLst/>
          </a:prstGeom>
          <a:noFill/>
        </p:spPr>
        <p:txBody>
          <a:bodyPr wrap="none" lIns="27432" rIns="27432" tIns="27432" bIns="27432" anchor="ctr">
            <a:spAutoFit/>
          </a:bodyPr>
          <a:lstStyle/>
          <a:p>
            <a:pPr algn="ctr"/>
            <a:r>
              <a:rPr sz="1250" b="1" i="0">
                <a:solidFill>
                  <a:srgbClr val="F59E0B"/>
                </a:solidFill>
                <a:latin typeface="Aptos"/>
              </a:rPr>
              <a:t>I risultati servono a priorizzare i lead e a decidere dove investire calcolo più costoso.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9692640" cy="47548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3000" b="1" i="0">
                <a:solidFill>
                  <a:srgbClr val="172033"/>
                </a:solidFill>
                <a:latin typeface="Aptos"/>
              </a:rPr>
              <a:t>Stato finale della Pipeline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70432"/>
            <a:ext cx="768096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Completata come validazione dinamica + energetica comparativa, incluso follow-up CF05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938528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Setup OpenMM B–D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05456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1 ns dimer MD + contact persistence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072384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/>
            <a:r>
              <a:rPr sz="1500" b="1" i="0">
                <a:solidFill>
                  <a:srgbClr val="172033"/>
                </a:solidFill>
                <a:latin typeface="Aptos"/>
              </a:rPr>
              <a:t>✓ Hotspot validation dinamica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3639312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✓ F0010 / CF06 / CF02 MD comparativa (07d)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3840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rPr sz="1300"/>
              <a:t>✓ Endpoint 50 snapshot + CF05 production 1 ns / clustering / integrazione (07e–07f)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32120" y="1810512"/>
            <a:ext cx="4983480" cy="2212848"/>
          </a:xfrm>
          <a:prstGeom prst="roundRect">
            <a:avLst>
              <a:gd name="adj" fmla="val 12000"/>
            </a:avLst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6440" y="1993392"/>
            <a:ext cx="44348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Conclusione finale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487168"/>
            <a:ext cx="443484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CF02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14032" y="2523744"/>
            <a:ext cx="30632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best 1 ns dynamic stability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3063240"/>
            <a:ext cx="4434840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CF06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14032" y="3099816"/>
            <a:ext cx="306324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best Rosetta + endpoint energy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32120" y="4334256"/>
            <a:ext cx="4983480" cy="1033271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>
            <a:solidFill>
              <a:srgbClr val="CCFB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79008" y="4517136"/>
            <a:ext cx="4498848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t>CF05 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79008" y="4846320"/>
            <a:ext cx="4498848" cy="32918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rPr sz="1400"/>
              <a:t>pair-score lead non confermato da 1 ns MD / endpoint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053328"/>
            <a:ext cx="1005840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r>
              <a:rPr sz="1300"/>
              <a:t>Pipeline 3 chiude il confronto: pair score → CF05 · Rosetta → CF06 · MD → CF02 · endpoint → CF06. Priorità computazionale: CF02 + CF06.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