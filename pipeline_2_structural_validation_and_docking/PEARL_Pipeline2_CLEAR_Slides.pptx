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13232"/>
            <a:ext cx="7315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PEARL Pipeline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4944" y="1371600"/>
            <a:ext cx="7863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peptides · CLEAR optimization · FoldX/Rosetta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 pipeline EGFR 3NJP · catene B–D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97864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82496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2496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67128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852928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36392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21024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5656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5656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90288" y="2852928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2852928"/>
            <a:ext cx="402336" cy="40233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59552" y="2852928"/>
            <a:ext cx="402336" cy="402336"/>
          </a:xfrm>
          <a:prstGeom prst="ellipse">
            <a:avLst/>
          </a:prstGeom>
          <a:solidFill>
            <a:srgbClr val="DCFC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898648"/>
            <a:ext cx="4023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3832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miniaturizzato F0010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892040"/>
            <a:ext cx="4937760" cy="512064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965192"/>
            <a:ext cx="47914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 → CLEAR → CF_06 / CF_10 / CF_02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5669280"/>
            <a:ext cx="6035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 computazionali: lead prioritizzati, non validazione sperimentale.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è stato completato nella seconda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00200"/>
            <a:ext cx="18013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22376" y="2002536"/>
            <a:ext cx="1801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miniaturizzato da 11 aa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150876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600200"/>
            <a:ext cx="18013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539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099816" y="2002536"/>
            <a:ext cx="1801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locali nel dataset CLEAR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9240" y="150876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7256" y="1600200"/>
            <a:ext cx="18013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77256" y="2002536"/>
            <a:ext cx="1801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FlexPepDock nel 05d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26680" y="15087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54696" y="1600200"/>
            <a:ext cx="22585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854696" y="2002536"/>
            <a:ext cx="22585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scoring adiacente implementato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29718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044952"/>
            <a:ext cx="2596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finale Rosetta: CF_06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IGERCQYRELR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03320" y="29718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3044952"/>
            <a:ext cx="2596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Secondo lead: CF_10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IGERCQYRELQ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K11Q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29718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3044952"/>
            <a:ext cx="2596896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CLEAR/FoldX: CF_02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IGERSQYRELK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C5S + D9E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Messaggio chiave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084064"/>
            <a:ext cx="10241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ha prodotto modifiche locali interpretabili; FoldX e FlexPepDock hanno filtrato le ipotesi, mostrando che D9E da sola non basta ma funziona meglio in combinazione.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Mappa dei notebook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rami: miniaturizzazione naturale e ottimizzazione controfattuale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37360"/>
            <a:ext cx="14081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Libreria hotspot-centred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1993392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78608" y="1664208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737360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strutturale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41648" y="1993392"/>
            <a:ext cx="3291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1664208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737360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Docking guidato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0" y="1993392"/>
            <a:ext cx="3291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99632" y="166420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737360"/>
            <a:ext cx="12710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Top-3 N20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1261872"/>
            <a:ext cx="3291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 1: frammenti corti naturali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15468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27832"/>
            <a:ext cx="11795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locale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0" y="3483864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350008" y="315468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227832"/>
            <a:ext cx="11795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GNN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75888" y="3483864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14216" y="315468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3227832"/>
            <a:ext cx="9966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57216" y="3483864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95544" y="315468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68696" y="3227832"/>
            <a:ext cx="99669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38544" y="3483864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76872" y="31546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0024" y="3227832"/>
            <a:ext cx="12710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FlexPepDock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94192" y="3483864"/>
            <a:ext cx="3200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732520" y="31546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05672" y="3227832"/>
            <a:ext cx="12710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scoring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" y="2724912"/>
            <a:ext cx="4114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 2: CLEAR-inspired peptide optimization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83880" y="4892040"/>
            <a:ext cx="2834640" cy="877824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57032" y="4965192"/>
            <a:ext cx="2688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integrato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prioritizzati + interpretazione pairwise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15200" y="3822192"/>
            <a:ext cx="1280160" cy="10058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 1 — dal seed lungo al peptide miniaturizzato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Frammenti hotspot-centred e validazione preliminare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 annidata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40233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 aa  GYIGERCQYRDLKWW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aa   YIGERCQYRDLKW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aa    IGERCQYRDLK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9 aa     GERCQYRDL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7 aa       RCQYRDL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9204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490472"/>
            <a:ext cx="17739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aa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strutturale lungo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8660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9752" y="1490472"/>
            <a:ext cx="17739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aa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miniaturizzato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8116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4312" y="1490472"/>
            <a:ext cx="17739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aa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intermedio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 dopo 03d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96512"/>
            <a:ext cx="4937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 è stato scelto come seed CLEAR perché conserva una posa stabile, tutti gli hotspot e una quota elevata dei contatti, ma riduce la sequenza a 11 residui.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4782312"/>
            <a:ext cx="4206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805150"/>
            <a:ext cx="1304544" cy="97716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585694"/>
            <a:ext cx="1341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73368" y="4855464"/>
            <a:ext cx="13594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F0005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851648" y="3886120"/>
            <a:ext cx="1304544" cy="8961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3360" y="3666664"/>
            <a:ext cx="1341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24216" y="4855464"/>
            <a:ext cx="13594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302496" y="4506278"/>
            <a:ext cx="1304544" cy="27603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4208" y="4286822"/>
            <a:ext cx="1341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275064" y="4855464"/>
            <a:ext cx="13594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F0001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6400800" y="5449824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Deep-refinement score 03d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03d — FlexPepDock N20 sui top-3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del seed miniaturizzato prima di CLEAR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08760"/>
            <a:ext cx="17556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13816" y="19110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generate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candidati × 20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417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54096" y="1508760"/>
            <a:ext cx="17556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1 Å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054096" y="19110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RMSD medio top-5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tutti e tre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14173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1508760"/>
            <a:ext cx="175564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294376" y="1911096"/>
            <a:ext cx="17556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preservati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nelle migliori pose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127248"/>
            <a:ext cx="5029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F0005 rimane il riferimento strutturalmente più robusto; F0010 è il miglior compromesso tra miniaturizzazione e qualità della posa; F0001 è meno prioritario.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149047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98280" y="1527048"/>
            <a:ext cx="46991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1342" y="1481328"/>
            <a:ext cx="594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196291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98280" y="1999488"/>
            <a:ext cx="20574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7172" y="1953768"/>
            <a:ext cx="594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43800" y="2435352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98280" y="2471928"/>
            <a:ext cx="938997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10429" y="2426208"/>
            <a:ext cx="594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43800" y="2944368"/>
            <a:ext cx="40233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Top-5 mean Rosetta score: valori inferiori sono migliori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84048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913632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scelto per CLEAR: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IGERCQYRDLK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2668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3816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4964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964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7260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7260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784080" y="5010912"/>
            <a:ext cx="329184" cy="329184"/>
          </a:xfrm>
          <a:prstGeom prst="ellipse">
            <a:avLst/>
          </a:prstGeom>
          <a:solidFill>
            <a:srgbClr val="FEF3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195560" y="5010912"/>
            <a:ext cx="329184" cy="329184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9556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607040" y="5010912"/>
            <a:ext cx="329184" cy="329184"/>
          </a:xfrm>
          <a:prstGeom prst="ellipse">
            <a:avLst/>
          </a:prstGeom>
          <a:solidFill>
            <a:srgbClr val="DCFC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07040" y="5056632"/>
            <a:ext cx="3291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04c–04d — Dataset locale e oracolo CLEAR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Dalla libreria di varianti al modello surrogato differenziabile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08760"/>
            <a:ext cx="20756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539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13816" y="1911096"/>
            <a:ext cx="20756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totali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seed + 38 singole + 500 doppie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508760"/>
            <a:ext cx="20756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R² 0.801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438144" y="1911096"/>
            <a:ext cx="20756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test set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regressione locale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1616" y="1508760"/>
            <a:ext cx="20756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ρ 0.896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071616" y="1911096"/>
            <a:ext cx="20756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 test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delle varianti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77072" y="14173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1508760"/>
            <a:ext cx="20756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0.0446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705088" y="1911096"/>
            <a:ext cx="207568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 medio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sul target composito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06324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136392"/>
            <a:ext cx="25968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Grafo peptidico lineare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nodi, archi adiacenti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11880" y="3547872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24528" y="30632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136392"/>
            <a:ext cx="277977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GNN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AA + hotspot + posizione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05472" y="3547872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18120" y="306324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3136392"/>
            <a:ext cx="25968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ottimizza sequenze locali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846320"/>
            <a:ext cx="98755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la GNN è usata perché differenziabile; Ridge era comparabile come baseline, ma meno adatta all’ottimizzazione categoriale.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04e — CLEAR controfattuale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F0010 a sostituzioni minime e interpretabili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43584"/>
            <a:ext cx="640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81328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11096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1096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40864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0632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30168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59936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9704" y="1554480"/>
            <a:ext cx="347472" cy="347472"/>
          </a:xfrm>
          <a:prstGeom prst="ellipse">
            <a:avLst/>
          </a:prstGeom>
          <a:solidFill>
            <a:srgbClr val="FEF3C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19472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1554480"/>
            <a:ext cx="347472" cy="34747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1801368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010912" y="124358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minimal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19088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48856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8856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78624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7862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08392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08392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38160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567928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67928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97696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97696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427464" y="1554480"/>
            <a:ext cx="347472" cy="347472"/>
          </a:xfrm>
          <a:prstGeom prst="ellipse">
            <a:avLst/>
          </a:prstGeom>
          <a:solidFill>
            <a:srgbClr val="DCFC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2746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857232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57232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287000" y="1554480"/>
            <a:ext cx="347472" cy="347472"/>
          </a:xfrm>
          <a:prstGeom prst="ellipse">
            <a:avLst/>
          </a:prstGeom>
          <a:solidFill>
            <a:srgbClr val="DBEAF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87000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2075688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· +0.063 predetto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822960" y="278892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6112" y="2862072"/>
            <a:ext cx="23225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controfattuali sopra soglia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657600" y="27889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0752" y="2862072"/>
            <a:ext cx="25968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CF_02 migliore oracle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C5S + D9E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+0.0958 predetto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766560" y="27889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39712" y="2862072"/>
            <a:ext cx="259689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Unico nuovo sopra soglia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CF_01 Q6E + R8K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22960" y="466344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correzione di LAMBDA_DISTANCE ha sbloccato il componente soft: i restart convergono a D9E, mentre il beam search individua combinazioni doppie.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05c — Validazione FoldX dei controfattuali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Primo filtro strutturale post-CLEAR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5303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84361"/>
            <a:ext cx="762000" cy="8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664904"/>
            <a:ext cx="798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04088" y="3044952"/>
            <a:ext cx="8168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CF_02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639824" y="2779433"/>
            <a:ext cx="762000" cy="192367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1536" y="2559977"/>
            <a:ext cx="798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-1.80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12392" y="3044952"/>
            <a:ext cx="8168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CF_03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548128" y="2756116"/>
            <a:ext cx="762000" cy="2156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9840" y="2536660"/>
            <a:ext cx="798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-1.77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20696" y="3044952"/>
            <a:ext cx="8168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CF_05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456432" y="2462060"/>
            <a:ext cx="762000" cy="5097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2242604"/>
            <a:ext cx="798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-1.31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3044952"/>
            <a:ext cx="8168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CF_06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364736" y="2410892"/>
            <a:ext cx="762000" cy="5609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6448" y="2191436"/>
            <a:ext cx="798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-1.23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37304" y="3044952"/>
            <a:ext cx="8168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CF_10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273040" y="1490510"/>
            <a:ext cx="762000" cy="148129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4752" y="1271054"/>
            <a:ext cx="79857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45608" y="3044952"/>
            <a:ext cx="81686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CF_01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31520" y="3611880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FoldX ΔΔG BuildModel (kcal/mol) · più basso = più favorevole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508760"/>
            <a:ext cx="18013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-1.965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6757416" y="1911096"/>
            <a:ext cx="1801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CF_02 migliore FoldX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C5S + D9E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61120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9136" y="1508760"/>
            <a:ext cx="180136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clash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089136" y="1911096"/>
            <a:ext cx="180136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 candidati prioritari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29400" y="3063240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3136392"/>
            <a:ext cx="42428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domina il pannello FoldX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3977640"/>
            <a:ext cx="4480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CF_01, l’unico nuovo rispetto al dataset 04c, viene scartato come lead: ΔΔG = +0.187 kcal/mol.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05d — FlexPepDock refinement seed-vs-CLEAR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Validazione strutturale più severa con 20 pose per candidato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5394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23821"/>
            <a:ext cx="777240" cy="153941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04365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CF_06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609344" y="1585785"/>
            <a:ext cx="777240" cy="1477455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1366329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81912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CF_10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532888" y="1765868"/>
            <a:ext cx="777240" cy="12973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546412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05456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CF_02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456432" y="2195743"/>
            <a:ext cx="777240" cy="86749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1976287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CF_05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379976" y="2234471"/>
            <a:ext cx="777240" cy="828769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2015015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52544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303520" y="2710819"/>
            <a:ext cx="777240" cy="352421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491363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76088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CF_03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85800" y="3703320"/>
            <a:ext cx="5303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Rosetta validation score 05d · più alto = migliore nel ranking composito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13258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399032"/>
            <a:ext cx="20025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principale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006840" y="13258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9992" y="1399032"/>
            <a:ext cx="20025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CF_10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K11Q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secondo lead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0" y="27432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816352"/>
            <a:ext cx="20025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C5S + D9E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CLEAR/FoldX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06840" y="27432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9992" y="2816352"/>
            <a:ext cx="2002536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negativo Rosetta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8368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chiave: D9E da sola non viene confermata da Rosetta; le doppie mutazioni con D9E sono invece più robuste.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05e — Adjacent amino-acid pair scoring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energetico surrogato per coppie adiacenti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5394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938150"/>
            <a:ext cx="777240" cy="12509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718694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-0.046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CF_05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609344" y="2803185"/>
            <a:ext cx="777240" cy="260055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2583729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-0.042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81912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CF_02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532888" y="2414748"/>
            <a:ext cx="777240" cy="6484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195292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-0.030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05456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CF_06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456432" y="2339035"/>
            <a:ext cx="777240" cy="724205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2119579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-0.028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CF_10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379976" y="2246864"/>
            <a:ext cx="777240" cy="816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2027408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-0.025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52544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CF_03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303520" y="1496324"/>
            <a:ext cx="777240" cy="15669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276868"/>
            <a:ext cx="8138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-0.002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76088" y="3136392"/>
            <a:ext cx="832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85800" y="3703320"/>
            <a:ext cx="5303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cost medio · più basso = più favorevole, empirico e posizione-specifico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13258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399032"/>
            <a:ext cx="424281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modifica due coppie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2057400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RD → RE   Δ pair cost = −0.1218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DL → EL   Δ pair cost = −0.1062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83680" y="315468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3227832"/>
            <a:ext cx="21854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Migliore pair score: CF_05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Q6E + D9E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98280" y="315468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3227832"/>
            <a:ext cx="21854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Migliore Rosetta: CF_06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4709160"/>
            <a:ext cx="45720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pair score interpreta il surrogate locale; non sostituisce FoldX/Rosetta. Correlazione con FoldX: Pearson 0.890.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Candidati prioritizzati finali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integrato CLEAR + FoldX + FlexPepDock + pair scoring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90472"/>
            <a:ext cx="241401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CF_06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IGERCQYRELR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principale Rosetta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03320" y="14173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490472"/>
            <a:ext cx="241401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CF_10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IGERCQYRELQ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 + K11Q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secondo lead Rosetta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490472"/>
            <a:ext cx="241401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CF_02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IGERSQYRELK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C5S + D9E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CLEAR/FoldX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08760" y="3246120"/>
            <a:ext cx="2560320" cy="1115568"/>
          </a:xfrm>
          <a:prstGeom prst="roundRect">
            <a:avLst>
              <a:gd name="adj" fmla="val 65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1912" y="3319272"/>
            <a:ext cx="241401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IGERCEYRELK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Q6E + D9E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pair score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2560320" cy="1115568"/>
          </a:xfrm>
          <a:prstGeom prst="roundRect">
            <a:avLst>
              <a:gd name="adj" fmla="val 655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3319272"/>
            <a:ext cx="241401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F0010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IGERCQYRDLK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naturale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3246120"/>
            <a:ext cx="2560320" cy="1115568"/>
          </a:xfrm>
          <a:prstGeom prst="roundRect">
            <a:avLst>
              <a:gd name="adj" fmla="val 65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3319272"/>
            <a:ext cx="241401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CF_03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IGERCQYRELK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D9E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negativo Rosetta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 integrata: le doppie mutazioni con D9E sono più solide del controfattuale minimo D9E da solo.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 e limiti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possiamo dire, e cosa no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197864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43891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 · PEARL / EGFR 3NJP · slide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90472"/>
            <a:ext cx="19568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Possiamo dire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484632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F0010 è un lead miniaturizzato plausibile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produce mutazioni locali interpretabili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FoldX conferma molte varianti con D9E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Rosetta seleziona soprattutto doppie mutazioni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05e spiega i contributi di coppia adiacente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490472"/>
            <a:ext cx="195681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possiamo dire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084832"/>
            <a:ext cx="484632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 è una validazione sperimentale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 è una misura diretta di affinità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Il pair cost non è kcal/mol fisico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L’oracolo dipende dal dataset locale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 ulteriore validazione MD / sperimentale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65960" y="46634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4736592"/>
            <a:ext cx="27797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da usare col Prof. Leoni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528523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pipeline ha chiuso il ciclo computazionale: miniaturizzazione → CLEAR → FoldX → Rosetta → interpretazione pairwise.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9601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Stato finale della seconda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Completata come sviluppo metodologico computazionale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214884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22199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Peptide corto F0010 selezionato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852928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926080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CLEAR implementato su peptide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557016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630168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FoldX/Rosetta validazione multilivello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261104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334256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Pair scoring adiacente implementato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prioritizzati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2542032"/>
            <a:ext cx="4206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F2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CF_06  D9E+K11R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E0F2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CF_10  D9E+K11Q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E0F2F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CF_02  C5S+D9E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0" y="4617720"/>
            <a:ext cx="5120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Prossimo step opzionale: MD / stabilità dinamica oppure relazione finale senza nuovi calcoli.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 Pipeline 2 — CLEAR peptide optimization</dc:title>
  <dc:subject>PEARL Pipeline 2 — CLEAR peptide optimization</dc:subject>
  <dc:creator>OpenAI</dc:creator>
  <cp:lastModifiedBy>OpenAI</cp:lastModifiedBy>
  <cp:revision>1</cp:revision>
  <dcterms:created xsi:type="dcterms:W3CDTF">2026-08-06T15:09:59Z</dcterms:created>
  <dcterms:modified xsi:type="dcterms:W3CDTF">2026-08-06T15:09:59Z</dcterms:modified>
</cp:coreProperties>
</file>